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108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C30B"/>
                </a:solidFill>
                <a:latin typeface="Calibri"/>
              </a:rPr>
              <a:t>КОММЕРЧЕСКОЕ ПРЕДЛОЖЕНИЕ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620000"/>
            <a:ext cx="144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980000"/>
            <a:ext cx="93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Разработка цифровой
экосистемы rosatom-travel.ru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60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Calibri"/>
              </a:rPr>
              <a:t>«Гостеприимные города Росатома»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41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Образовательная платформа ВШГР  •  Туры возможностей  •  Информационная платформа  •  Экосистема взаимодействия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5040000"/>
            <a:ext cx="216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52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Rakhmanov.studio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558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27.02.2026  •  Версия 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О компании и основателе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18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0000" y="1620000"/>
            <a:ext cx="5040000" cy="18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0000" y="1620000"/>
            <a:ext cx="5040000" cy="54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0000" y="187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CC30B"/>
                </a:solidFill>
                <a:latin typeface="Calibri"/>
              </a:rPr>
              <a:t>Rakhmanov.studio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2232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Студия разработки, специализирующаяся на создании
веб-платформ, цифровых экосистем и сложных
информационных систем. Полный цикл: от аналитики
и UX/UI-дизайна до backend, frontend и DevOps.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0" y="1620000"/>
            <a:ext cx="5040000" cy="18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40000" y="1620000"/>
            <a:ext cx="5040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0000" y="187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Алексей Рахманов  •  Основатель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000" y="2232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CTO / FUN&amp;SUN  •  15+ лет в разработке
Руководство командой 101 человек
3 мобильных приложения и 7 сайтов для 7 стран
Спикер KnowledgeConf, TechLeadConf, CTO 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67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Ключевые проекты в портфеле основателя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4068000"/>
            <a:ext cx="1908000" cy="151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80000" y="4068000"/>
            <a:ext cx="1908000" cy="43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1999" y="424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МИС для клиник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1999" y="4572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Медицинская информационная
система для сети клиник
в Санкт-Петербурге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8000" y="4068000"/>
            <a:ext cx="1908000" cy="151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68000" y="4068000"/>
            <a:ext cx="1908000" cy="4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999" y="424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Биобанк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999" y="4572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Система управления Биобанком
для Национального
БиоСервиса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6000" y="4068000"/>
            <a:ext cx="1908000" cy="151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6000" y="4068000"/>
            <a:ext cx="1908000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7999" y="424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НПП Пульсар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7999" y="4572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Дашборды и агрегация данных
для НПП Пульсар
(Росэлектроника)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43999" y="4068000"/>
            <a:ext cx="1908000" cy="151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3999" y="4068000"/>
            <a:ext cx="1908000" cy="43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5998" y="424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alibri"/>
              </a:rPr>
              <a:t>АХОВ / МЧС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5998" y="4572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Программы расчёта
радиационной защиты
для Инжмашпроект (МЧС)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2000" y="4068000"/>
            <a:ext cx="1908000" cy="151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32000" y="4068000"/>
            <a:ext cx="1908000" cy="4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999" y="424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FUN&amp;SUN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999" y="4572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3 приложения, 7 сайтов
для 7 стран, команда
101 человек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000" y="583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ИП Рахманов Алексей Сергеевич  •  ОГРНИП: 326774600051186  •  ИНН: 771975863309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Наши продукты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18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4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Собственные продукты студии, реализованные «под ключ»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1980000"/>
            <a:ext cx="3240000" cy="396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1980000"/>
            <a:ext cx="3240000" cy="54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2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alibri"/>
              </a:rPr>
              <a:t>AIHRBP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59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C30B"/>
                </a:solidFill>
                <a:latin typeface="Calibri"/>
              </a:rPr>
              <a:t>AI HR бизнес-партнёр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2951999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AI-платформа автоматизации подбора
персонала с использованием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3528000"/>
            <a:ext cx="25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AI-анализ резюме за 15 секунд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Генерация вакансий одной кнопкой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Telegram-бот для сбора анкет 24/7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PRO-резюме с усиленной подачей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Транскрибация интервью + анализ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Экспорт в DOCX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Экономия 80% времени 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0000" y="5220000"/>
            <a:ext cx="1440000" cy="28800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0000" y="523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aihrbp.ru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1980000"/>
            <a:ext cx="3240000" cy="396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60000" y="1980000"/>
            <a:ext cx="3240000" cy="5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0" y="22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Calibri"/>
              </a:rPr>
              <a:t>ECLIPSO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0" y="259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C30B"/>
                </a:solidFill>
                <a:latin typeface="Calibri"/>
              </a:rPr>
              <a:t>Корпоративный мессенджер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2951999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Приватный мессенджер на собственных
серверах с E2E шифрованием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3528000"/>
            <a:ext cx="25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E2E шифрование (NaCl Box, 256-bit)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Видеозвонки и конференции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Android-приложение + веб-версия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Panic Button — мгновенное удаление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Dead Man Switch — автоочистка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Каналы, группы, Stories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Развёртывание на своём сервере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0" y="5220000"/>
            <a:ext cx="1440000" cy="2880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0" y="523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On-premise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0000" y="1980000"/>
            <a:ext cx="3240000" cy="396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0000" y="1980000"/>
            <a:ext cx="3240000" cy="54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000" y="223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923C"/>
                </a:solidFill>
                <a:latin typeface="Calibri"/>
              </a:rPr>
              <a:t>AppKub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000" y="259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C30B"/>
                </a:solidFill>
                <a:latin typeface="Calibri"/>
              </a:rPr>
              <a:t>Конструктор приложений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000" y="2951999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Мобильные приложения для сферы
услуг в 3 раза дешевле рынка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000" y="3528000"/>
            <a:ext cx="25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150+ приложений запущено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50 000+ конечных клиентов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iOS + Android за 3 дня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Панель управления без кода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Push-уведомления, аналитика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Онлайн-запись, приём оплаты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D1D5DB"/>
                </a:solidFill>
                <a:latin typeface="Calibri"/>
              </a:rPr>
              <a:t>•  CRM с историей записей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000" y="5220000"/>
            <a:ext cx="1440000" cy="288000"/>
          </a:xfrm>
          <a:prstGeom prst="roundRect">
            <a:avLst>
              <a:gd name="adj" fmla="val 3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000" y="523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appkub.ru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Спикерский опыт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18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4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Алексей Рахманов — регулярный спикер крупнейших IT-конференций России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198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1980000"/>
            <a:ext cx="2448000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8000" y="216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CC30B"/>
                </a:solidFill>
                <a:latin typeface="Calibri"/>
              </a:rPr>
              <a:t>CTO Conf X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8000" y="252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PL UNIT: как измерять IT
с точки зрения бизнеса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0000" y="198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80000" y="1980000"/>
            <a:ext cx="2448000" cy="4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8000" y="216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TeamLead Conf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8000" y="252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Как изменяется performance
команды после внедрения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198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0000" y="1980000"/>
            <a:ext cx="2448000" cy="4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8000" y="216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TeamLead Conf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8000" y="252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AI на службе техлида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000" y="198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000" y="1980000"/>
            <a:ext cx="2448000" cy="43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8000" y="216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Calibri"/>
              </a:rPr>
              <a:t>KnowledgeConf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8000" y="252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Как «Матрицы компетенций»
стали «Матрицами вдохновения»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0000" y="360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0000" y="3600000"/>
            <a:ext cx="2448000" cy="43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8000" y="378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Calibri"/>
              </a:rPr>
              <a:t>KnowledgeConf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8000" y="41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Обмен знаниями. Игра
«Раскрой тайные знаки»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80000" y="360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80000" y="3600000"/>
            <a:ext cx="2448000" cy="4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8000" y="378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TechLead Conf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8000" y="41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Зачем разработчику LLM?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0000" y="360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80000" y="3600000"/>
            <a:ext cx="2448000" cy="4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8000" y="378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KnowledgeConf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8000" y="41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Строим свою Вселенную
знаний с помощью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0000" y="3600000"/>
            <a:ext cx="2448000" cy="1368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0000" y="3600000"/>
            <a:ext cx="2448000" cy="4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8000" y="378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KnowledgeConf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8000" y="41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Умный помощник в действии:
как снять нагрузку с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C30B"/>
                </a:solidFill>
                <a:latin typeface="Calibri"/>
              </a:rPr>
              <a:t>8 докладов  •  5 конференций  •  2023–2025  •  KnowledgeConf, TechLeadConf, CTO Conf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О проекте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18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4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Цифровая экосистема для развития туристического, образовательного и предпринимательского
потенциала атомных городов ГК «Росатом». Проект разделён на 3 параллельных проекта с одновременным стартом.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2160000"/>
            <a:ext cx="3240000" cy="378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160000"/>
            <a:ext cx="3240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2412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288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Образовательная
платформа ВШГР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360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LMS: курсы, тесты, задания,
геймификация, видео,
база знаний — 11 модулей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4320000"/>
            <a:ext cx="1440000" cy="324000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433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1 апреля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486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CC30B"/>
                </a:solidFill>
                <a:latin typeface="Calibri"/>
              </a:rPr>
              <a:t>1 980 000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532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Параллельный старт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2160000"/>
            <a:ext cx="3240000" cy="378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80000" y="2160000"/>
            <a:ext cx="3240000" cy="54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0" y="2412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CC30B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288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Туры возможностей +
Информационная часть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360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Города, туры, ВШГР-инфо,
исследования, Атомы вкуса,
блог, админ-панель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4320000"/>
            <a:ext cx="1440000" cy="3240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0" y="433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1 июля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0" y="486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CC30B"/>
                </a:solidFill>
                <a:latin typeface="Calibri"/>
              </a:rPr>
              <a:t>1 970 000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0" y="532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Параллельный старт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0000" y="2160000"/>
            <a:ext cx="3240000" cy="378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0000" y="2160000"/>
            <a:ext cx="3240000" cy="54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0000" y="2412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0000" y="288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Платформа
взаимодействия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0000" y="360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ЛК, авторизация, вакансии,
соседи, конкурсные анкеты,
расширенная админка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0000" y="4320000"/>
            <a:ext cx="1440000" cy="32400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0000" y="433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Август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0000" y="486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CC30B"/>
                </a:solidFill>
                <a:latin typeface="Calibri"/>
              </a:rPr>
              <a:t>1 990 000 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0000" y="532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Параллельный старт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Технологии и безопасность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1800000"/>
            <a:ext cx="2880000" cy="100799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194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226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Laravel 11+ (PHP 8.3+)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1800000"/>
            <a:ext cx="2880000" cy="100799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0" y="194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0" y="226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Vue 3 + Composition API + Pinia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0" y="1800000"/>
            <a:ext cx="2880000" cy="100799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000" y="194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База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0" y="226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PostgreSQL 16+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3060000"/>
            <a:ext cx="2880000" cy="100799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0" y="320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Кэш / Очереди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0" y="352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0" y="3060000"/>
            <a:ext cx="2880000" cy="100799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0000" y="320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352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Docker / Kubernetes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0" y="3060000"/>
            <a:ext cx="2880000" cy="100799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0000" y="3204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CC30B"/>
                </a:solidFill>
                <a:latin typeface="Calibri"/>
              </a:rPr>
              <a:t>Поиск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352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Laravel Scout + Full-Text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000" y="450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Безопасность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40000" y="4968000"/>
            <a:ext cx="1512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0000" y="50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C30B"/>
                </a:solidFill>
                <a:latin typeface="Calibri"/>
              </a:rPr>
              <a:t>152-ФЗ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0000" y="5364000"/>
            <a:ext cx="11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Закон о персональных данных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96000" y="4968000"/>
            <a:ext cx="1512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6000" y="50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C30B"/>
                </a:solidFill>
                <a:latin typeface="Calibri"/>
              </a:rPr>
              <a:t>Данные в РФ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6000" y="5364000"/>
            <a:ext cx="11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Хранение на территории России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2000" y="4968000"/>
            <a:ext cx="1512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2000" y="50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C30B"/>
                </a:solidFill>
                <a:latin typeface="Calibri"/>
              </a:rPr>
              <a:t>OWASP Top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2000" y="5364000"/>
            <a:ext cx="11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Защита от атак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7999" y="4968000"/>
            <a:ext cx="1512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7999" y="50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C30B"/>
                </a:solidFill>
                <a:latin typeface="Calibri"/>
              </a:rPr>
              <a:t>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7999" y="5364000"/>
            <a:ext cx="11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Разграничение доступа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3999" y="4968000"/>
            <a:ext cx="1512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3999" y="50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C30B"/>
                </a:solidFill>
                <a:latin typeface="Calibri"/>
              </a:rPr>
              <a:t>Логирование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999" y="5364000"/>
            <a:ext cx="11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Аудит действий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0000" y="4968000"/>
            <a:ext cx="1512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0000" y="507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CC30B"/>
                </a:solidFill>
                <a:latin typeface="Calibri"/>
              </a:rPr>
              <a:t>Docker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0000" y="5364000"/>
            <a:ext cx="11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Изоляция сервисов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ПРОЕКТ 1  •  К 1 АПРЕЛЯ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Образовательная платформа
ВШГР (LMS)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0000" y="720000"/>
            <a:ext cx="2700000" cy="90000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0" y="79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ЗАПУСК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0" y="115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 апреля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1800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19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11 модулей LMS. 300 участников. SCORM. Кроссбраузерность. Адаптивность.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2520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262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Авторизация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951999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Логин/пароль, SSO
(OAuth 2.0, OpenID)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0" y="2520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0" y="262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Курсы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2951999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SCORM v1.2 и v2004,
этапы прохождения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0000" y="2520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262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База знаний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2951999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Текст, видео, файлы,
иерархия разделов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000" y="2520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262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Кабинет руководителя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2951999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Мониторинг групп,
прогресс, отчёты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0000" y="2520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000" y="262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Кабинет участника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000" y="2951999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Траектории, задания,
прогресс, профиль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0000" y="2520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0000" y="262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Геймификация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0000" y="2951999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Баллы, рейтинги,
автоначисления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50000" y="3888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0000" y="399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Тесты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0000" y="4320000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Проверка знаний,
защита от списывания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0000" y="3888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0000" y="399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Траектории обучения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0000" y="4320000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Объединение курсов,
расписание, уведомления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0000" y="3888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0000" y="399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Видео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0000" y="4320000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Вебинары, записи,
Rutube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0000" y="3888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0000" y="399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Задания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0000" y="4320000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Загрузка, проверка
преподавателем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50000" y="3888000"/>
            <a:ext cx="1620000" cy="1152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0000" y="399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Материалы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0000" y="4320000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1D5DB"/>
                </a:solidFill>
                <a:latin typeface="Calibri"/>
              </a:rPr>
              <a:t>Разделы, ссылки,
управление доступом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0000" y="532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Поддержка браузеров: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0000" y="558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Yandex 22+  •  Chrome 118+  •  Firefox 118+  •  Opera 104+  •  Safari 16+  •  Edge 118+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0000" y="5220000"/>
            <a:ext cx="360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0000" y="5328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Стоимость Проекта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0000" y="558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CC30B"/>
                </a:solidFill>
                <a:latin typeface="Calibri"/>
              </a:rPr>
              <a:t>1 980 000 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C30B"/>
                </a:solidFill>
                <a:latin typeface="Calibri"/>
              </a:rPr>
              <a:t>ПРОЕКТ 2  •  К 1 ИЮЛЯ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Туры возможностей +
Информационная платформа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0000" y="720000"/>
            <a:ext cx="2700000" cy="9000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0" y="79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0D0D"/>
                </a:solidFill>
                <a:latin typeface="Calibri"/>
              </a:rPr>
              <a:t>ЗАПУСК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0" y="115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0D0D"/>
                </a:solidFill>
                <a:latin typeface="Calibri"/>
              </a:rPr>
              <a:t>1 июля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1800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40000" y="2160000"/>
            <a:ext cx="2880000" cy="198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0000" y="2160000"/>
            <a:ext cx="54000" cy="198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0" y="24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Главная страница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288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Видеоролик-презентация, миссия, цели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Интерактивная карта атомных городов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Этапы программы с навигацией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Форма «Хочу узнать подробнее»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Timeline-лента, адаптивность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2160000"/>
            <a:ext cx="2880000" cy="198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0000" y="2160000"/>
            <a:ext cx="54000" cy="198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0" y="24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Атомные города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288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Каталог с фильтрами и карточками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Страницы городов: описание, инфраструктура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Связи: город ↔ туры, вакансии, соседи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Добавление в избранное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0" y="2160000"/>
            <a:ext cx="2880000" cy="198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0" y="2160000"/>
            <a:ext cx="54000" cy="198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0" y="24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Туры возможностей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288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Каталог туров с фильтрацией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Страницы проектов (СА / АВ / ЛЛР)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Карточка тура: медиа, программа, даты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Формы заявок, счётчик эмоций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0000" y="4320000"/>
            <a:ext cx="2880000" cy="162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0000" y="4320000"/>
            <a:ext cx="54000" cy="162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0000" y="457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ВШГР (информация)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0" y="50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Описание системы и контуров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Карточки продуктов (около 10)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Страницы продуктов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Формы заявок, скачивание КП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0000" y="4320000"/>
            <a:ext cx="2880000" cy="162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0000" y="4320000"/>
            <a:ext cx="54000" cy="162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0" y="457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Исследования + Атомы вкуса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000" y="50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Методология, кейсы, результаты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Интерактивная карта городов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Книга атомных рецептов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Формы заявок, партнёры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0" y="4320000"/>
            <a:ext cx="2880000" cy="162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0000" y="4320000"/>
            <a:ext cx="54000" cy="162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0000" y="457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Блог + Админ-панель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50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Каталог статей с тегами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CRUD: города, туры, программы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Управление заявками, экспорт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Медиа-менеджер, роли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0000" y="5760000"/>
            <a:ext cx="3600000" cy="5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000" y="579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Стоимость Проекта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00" y="5796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CC30B"/>
                </a:solidFill>
                <a:latin typeface="Calibri"/>
              </a:rPr>
              <a:t>1 970 000 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54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alibri"/>
              </a:rPr>
              <a:t>ПРОЕКТ 3  •  АВГУСТ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Платформа взаимодействия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0000" y="720000"/>
            <a:ext cx="2700000" cy="90000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0" y="79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ЗАПУСК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0" y="1152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Август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1800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40000" y="2160000"/>
            <a:ext cx="2880000" cy="198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0000" y="2160000"/>
            <a:ext cx="54000" cy="198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0" y="24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Регистрация и авторизация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288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OAuth: ВКонтакте, Яндекс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Email / пароль (классическая)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Sanctum — безопасные токены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2160000"/>
            <a:ext cx="2880000" cy="198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0000" y="2160000"/>
            <a:ext cx="54000" cy="198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0" y="24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Личный кабинет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288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Профиль с валидацией данных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Избранные города и туры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История заявок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Выбор города для переезда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Обращения в поддержку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0" y="2160000"/>
            <a:ext cx="2880000" cy="198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0" y="2160000"/>
            <a:ext cx="54000" cy="198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0" y="24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Конкурсные анкеты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288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Направления: СА / АВ / ЛЛР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Персональные данные + документы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Развёрнутые ответы на вопросы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Проверочные задания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Дедлайны, выбор до 3 туров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0000" y="4320000"/>
            <a:ext cx="2880000" cy="162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0000" y="4320000"/>
            <a:ext cx="54000" cy="162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0000" y="457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Вакансии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0" y="50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Каталог с фильтрами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Карточка вакансии, отклик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ЛК работодателя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Интеграция РосАтом Карьера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0000" y="4320000"/>
            <a:ext cx="2880000" cy="162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0000" y="4320000"/>
            <a:ext cx="54000" cy="162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0" y="457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Соседи (Бадди)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000" y="50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Каталог карточек жителей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Фильтрация по городу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Форма заявки на связь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Модерация через админку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0" y="4320000"/>
            <a:ext cx="2880000" cy="1620000"/>
          </a:xfrm>
          <a:prstGeom prst="roundRect">
            <a:avLst>
              <a:gd name="adj" fmla="val 4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0000" y="4320000"/>
            <a:ext cx="54000" cy="162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0000" y="457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Расширенная админка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50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Управление пользователями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Роли и доступы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Модерация всех заявок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Метрики и экспорт данных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0000" y="5760000"/>
            <a:ext cx="3600000" cy="5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000" y="579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Стоимость Проекта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00" y="5796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CC30B"/>
                </a:solidFill>
                <a:latin typeface="Calibri"/>
              </a:rPr>
              <a:t>1 990 000 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Сроки реализации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6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Все 3 проекта стартуют параллельно. Аналитика ведётся одновременно по всем направлениям.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Февраль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4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Март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Апрель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5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Май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1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Июнь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Июль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3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0000" y="208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CC30B"/>
                </a:solidFill>
                <a:latin typeface="Calibri"/>
              </a:rPr>
              <a:t>Август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92800" y="2088000"/>
            <a:ext cx="14400" cy="3780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000" y="2520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Аналитика (все направления)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000" y="2538000"/>
            <a:ext cx="1260000" cy="151200"/>
          </a:xfrm>
          <a:prstGeom prst="roundRect">
            <a:avLst>
              <a:gd name="adj" fmla="val 30000"/>
            </a:avLst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000" y="3276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UX/UI + Дизайн ВШГР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32000" y="3294000"/>
            <a:ext cx="1260000" cy="151200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528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Frontend + Backend LMS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10000" y="3546000"/>
            <a:ext cx="2142000" cy="151200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000" y="3780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Тестирование + Запуск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00000" y="3798000"/>
            <a:ext cx="377999" cy="1512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0" y="3805200"/>
            <a:ext cx="377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0D0D"/>
                </a:solidFill>
                <a:latin typeface="Calibri"/>
              </a:rPr>
              <a:t>1 АПРЕЛЯ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000" y="4536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UX/UI + Дизайн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0000" y="4554000"/>
            <a:ext cx="1890000" cy="151200"/>
          </a:xfrm>
          <a:prstGeom prst="roundRect">
            <a:avLst>
              <a:gd name="adj" fmla="val 30000"/>
            </a:avLst>
          </a:prstGeom>
          <a:solidFill>
            <a:srgbClr val="FFD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4788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Города + Туры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0" y="4806000"/>
            <a:ext cx="2520000" cy="151200"/>
          </a:xfrm>
          <a:prstGeom prst="roundRect">
            <a:avLst>
              <a:gd name="adj" fmla="val 30000"/>
            </a:avLst>
          </a:prstGeom>
          <a:solidFill>
            <a:srgbClr val="FFD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000" y="5040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Информационная часть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0000" y="5058000"/>
            <a:ext cx="2520000" cy="151200"/>
          </a:xfrm>
          <a:prstGeom prst="roundRect">
            <a:avLst>
              <a:gd name="adj" fmla="val 30000"/>
            </a:avLst>
          </a:prstGeom>
          <a:solidFill>
            <a:srgbClr val="FFD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5292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Тест + Запуск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28000" y="5310000"/>
            <a:ext cx="377999" cy="1512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8000" y="5317200"/>
            <a:ext cx="377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0D0D"/>
                </a:solidFill>
                <a:latin typeface="Calibri"/>
              </a:rPr>
              <a:t>1 ИЮЛЯ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000" y="6047999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UX/UI + Дизайн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0000" y="6065999"/>
            <a:ext cx="1890000" cy="15120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0000" y="6300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ЛК + Авторизация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0000" y="6318000"/>
            <a:ext cx="2520000" cy="15120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0000" y="6552000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Вакансии + Бадди + Анкеты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0000" y="6570000"/>
            <a:ext cx="2520000" cy="15120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0000" y="6803999"/>
            <a:ext cx="26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1D5DB"/>
                </a:solidFill>
                <a:latin typeface="Calibri"/>
              </a:rPr>
              <a:t>Тест + Запуск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88000" y="6821999"/>
            <a:ext cx="504000" cy="1512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88000" y="6829199"/>
            <a:ext cx="50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0D0D"/>
                </a:solidFill>
                <a:latin typeface="Calibri"/>
              </a:rPr>
              <a:t>АВГУСТ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78400" y="2088000"/>
            <a:ext cx="43200" cy="378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58400" y="2088000"/>
            <a:ext cx="43200" cy="3780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18400" y="2088000"/>
            <a:ext cx="43200" cy="378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Стоимость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6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Работа ведётся по трём параллельными проектами. Каждый проект — до 2 000 000 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2160000"/>
            <a:ext cx="3240000" cy="252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160000"/>
            <a:ext cx="3240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241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Проект 1
ВШГР (LMS)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306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11 модулей LMS:
курсы, SCORM, тесты,
геймификация, видео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3780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CC30B"/>
                </a:solidFill>
                <a:latin typeface="Calibri"/>
              </a:rPr>
              <a:t>1 980 000 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4248000"/>
            <a:ext cx="1440000" cy="288000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426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Сдача: 1 апреля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2160000"/>
            <a:ext cx="3240000" cy="252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0000" y="2160000"/>
            <a:ext cx="3240000" cy="54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0" y="241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C30B"/>
                </a:solidFill>
                <a:latin typeface="Calibri"/>
              </a:rPr>
              <a:t>Проект 2
Туры + Информация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306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Города, туры, ВШГР-инфо,
исследования, Атомы вкуса,
блог, админ-панель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3780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CC30B"/>
                </a:solidFill>
                <a:latin typeface="Calibri"/>
              </a:rPr>
              <a:t>1 970 000 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0000" y="4248000"/>
            <a:ext cx="1440000" cy="288000"/>
          </a:xfrm>
          <a:prstGeom prst="roundRect">
            <a:avLst>
              <a:gd name="adj" fmla="val 30000"/>
            </a:avLst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0" y="426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0D0D"/>
                </a:solidFill>
                <a:latin typeface="Calibri"/>
              </a:rPr>
              <a:t>Сдача: 1 июля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0000" y="2160000"/>
            <a:ext cx="3240000" cy="252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0000" y="2160000"/>
            <a:ext cx="3240000" cy="54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0000" y="241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Проект 3
Взаимодействие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0000" y="306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ЛК, авторизация, вакансии,
соседи, конкурсные анкеты,
расширенная админка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0000" y="3780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CC30B"/>
                </a:solidFill>
                <a:latin typeface="Calibri"/>
              </a:rPr>
              <a:t>1 990 000 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0000" y="4248000"/>
            <a:ext cx="1440000" cy="28800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0000" y="426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Сдача: Август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0000" y="5040000"/>
            <a:ext cx="10080000" cy="108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0000" y="5040000"/>
            <a:ext cx="10080000" cy="54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000" y="529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Calibri"/>
              </a:rPr>
              <a:t>ИТОГО ПО ТРЁМ ПРОЕКТАМ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0" y="565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февраль — август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5220000"/>
            <a:ext cx="432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CC30B"/>
                </a:solidFill>
                <a:latin typeface="Calibri"/>
              </a:rPr>
              <a:t>5 940 000 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Порядок оплаты и приёмки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6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Все три проекта стартуют одновременно. Схема оплаты 50/50 по каждому.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2160000"/>
            <a:ext cx="10080000" cy="108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160000"/>
            <a:ext cx="54000" cy="1080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2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Аванс при подписании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62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Проект 1:  990 000 ₽   +   Проект 2:  985 000 ₽   +   Проект 3:  995 000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0" y="2268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= 2 970 000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360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График поступлений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0000" y="4068000"/>
            <a:ext cx="9360000" cy="5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40000" y="4068000"/>
            <a:ext cx="54000" cy="540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0000" y="415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Февраль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0" y="415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Старт всех 3 проектов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0" y="412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CC30B"/>
                </a:solidFill>
                <a:latin typeface="Calibri"/>
              </a:rPr>
              <a:t>+ 2 970 000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4716000"/>
            <a:ext cx="9360000" cy="5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40000" y="4716000"/>
            <a:ext cx="54000" cy="54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0000" y="480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Апрель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480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Сдача Проекта 1 (ВШГР)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0" y="477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CC30B"/>
                </a:solidFill>
                <a:latin typeface="Calibri"/>
              </a:rPr>
              <a:t>+ 990 000 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40000" y="5364000"/>
            <a:ext cx="9360000" cy="5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40000" y="5364000"/>
            <a:ext cx="54000" cy="54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0000" y="5454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C30B"/>
                </a:solidFill>
                <a:latin typeface="Calibri"/>
              </a:rPr>
              <a:t>Июль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0" y="5454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Сдача Проекта 2 (Туры + Инфо)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5418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CC30B"/>
                </a:solidFill>
                <a:latin typeface="Calibri"/>
              </a:rPr>
              <a:t>+ 985 000 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0000" y="6012000"/>
            <a:ext cx="9360000" cy="5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0000" y="6012000"/>
            <a:ext cx="54000" cy="54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0000" y="610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Calibri"/>
              </a:rPr>
              <a:t>Август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0000" y="610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Сдача Проекта 3 (Взаимодействие)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0" y="6066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CC30B"/>
                </a:solidFill>
                <a:latin typeface="Calibri"/>
              </a:rPr>
              <a:t>+ 995 000 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Условия: что входит и что дополнительно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0000" y="1800000"/>
            <a:ext cx="5040000" cy="41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0000" y="1800000"/>
            <a:ext cx="5040000" cy="5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0000" y="205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Входит в стоимость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2520000"/>
            <a:ext cx="43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Аналитика и проектирование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UX/UI-дизайн по брендбуку Росатома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Frontend- и backend-разработка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Все разделы сайта согласно ТЗ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Личные кабинеты и конкурсные анкеты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Образовательная платформа ВШГР (11 модулей)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Административная панель с ролями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Тестирование (функциональное, кроссбраузерное)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Развёртывание на сервере (Docker)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Документация (архитектура, API)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Обучение команды заказчика (до 8 часов)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Передача исходного кода и прав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0" y="1800000"/>
            <a:ext cx="5040000" cy="414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40000" y="1800000"/>
            <a:ext cx="5040000" cy="54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0000" y="205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923C"/>
                </a:solidFill>
                <a:latin typeface="Calibri"/>
              </a:rPr>
              <a:t>Дополнительно (не в стоимости)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000" y="2520000"/>
            <a:ext cx="43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Интеграция платёжной системы
   (ЮKassa / Робокасса / Сбер)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Расширенная пользовательская инструкция
   со скриншотами (50 000 – 80 000 ₽)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Внешний аудит безопасности / пентест
   (150 000 – 300 000 ₽)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Ежемесячная техподдержка и мониторинг
   (30 000 – 50 000 ₽/мес.)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SEO-оптимизация и продвижение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Наполнение контентом (тексты, фото, видео)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Интеграция с внешними системами
   (кроме РосАтом Карьера API)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•  Дополнительные LMS-модули:
   чаты, опросы, бронирования, лента,
   отчётность (по запросу)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Результаты и передача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1800000"/>
            <a:ext cx="936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40000" y="1800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0000" y="194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Исходный код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0000" y="2303999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Полный репозиторий Git с передачей исключительных прав на всё разработанное ПО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000" y="2880000"/>
            <a:ext cx="936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0000" y="2880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0000" y="302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Документация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3383999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Описание архитектуры, API (OpenAPI 3.0), инструкции по развёртыванию в 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0" y="3960000"/>
            <a:ext cx="936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40000" y="3960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0000" y="410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0000" y="4463999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Обучающая сессия для команды заказчика — до 8 часов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5040000"/>
            <a:ext cx="936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40000" y="5040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0000" y="518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5543999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Docker-окружение, готовое к развёртыванию на сервере заказчика или в облаке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Наши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1368000"/>
            <a:ext cx="108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6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Для эффективного старта работ просим уточнить следующие моменты: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2160000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160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2268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223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Контент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2520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Кто предоставляет тексты, фотографии и видео для наполнения сайта?
Есть ли готовые материалы или потребуется контент-план?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0000" y="2160000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60000" y="2160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0000" y="2268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0" y="223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Брендбук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0" y="2520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Есть ли актуальная версия брендбука Росатома в электронном виде
(логотипы, шрифты, цветовая палитра)?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000" y="3168000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0000" y="3168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0000" y="3276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324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Хостинг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35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На какой инфраструктуре планируется размещение?
Наш сервер, сервер заказчика или облако (Яндекс Cloud, VK Cloud)?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0000" y="3168000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0000" y="3168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0000" y="3276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0" y="324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Домен и 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0000" y="35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Домен rosatom-travel.ru — кто владеет, есть ли доступ к DNS?
Требуется ли SSL-сертификат (Let's Encrypt или корпоративный)?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0" y="4176000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0000" y="4176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0000" y="4284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0000" y="424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Платёжная система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0000" y="4536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Планируется ли приём оплаты за туры на сайте?
Если да — какая платёжная система предпочтительна (ЮKassa, Сбер)?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0000" y="4176000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60000" y="4176000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0000" y="4284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0000" y="424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Интеграции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0" y="4536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Есть ли документация по API РосАтом Карьера для интеграции вакансий?
Какие внешние системы необходимо подключить?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0000" y="5183999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0000" y="5183999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0000" y="5291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0000" y="5255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ВШГР (LMS)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0000" y="5543999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Есть ли готовые курсы в формате SCORM для загрузки на платформу?
Кто будет администрировать образовательный контент?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0000" y="5183999"/>
            <a:ext cx="5220000" cy="9000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60000" y="5183999"/>
            <a:ext cx="54000" cy="9000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20000" y="5291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C30B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0000" y="5255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Доступы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0000" y="5543999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Есть ли доступ к текущему сайту rosatom-travel.ru
для анализа существующего контента и данных?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2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144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Готовы начать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52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Мы гарантируем качество разработки, прозрачность процесса
и полную передачу интеллектуальной собственности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0" y="3420000"/>
            <a:ext cx="3600000" cy="28800"/>
          </a:xfrm>
          <a:prstGeom prst="rect">
            <a:avLst/>
          </a:prstGeom>
          <a:solidFill>
            <a:srgbClr val="FCC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3780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CC30B"/>
                </a:solidFill>
                <a:latin typeface="Calibri"/>
              </a:rPr>
              <a:t>RAKHMANOV.STUDIO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43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ИП Рахманов Алексей Сергеевич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4608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ОГРНИП: 326774600051186  •  ИНН: 771975863309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5112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+7 (916) 023-02-02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5472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CC30B"/>
                </a:solidFill>
                <a:latin typeface="Calibri"/>
              </a:rPr>
              <a:t>rakhmanov.studio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