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390492"/>
            <a:ext cx="5829300" cy="1508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FFDD00"/>
                </a:solidFill>
              </a:rPr>
              <a:t>Создание цифровой </a:t>
            </a:r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FFDD00"/>
                </a:solidFill>
              </a:rPr>
              <a:t>экосистемы</a:t>
            </a:r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FFDD00"/>
                </a:solidFill>
              </a:rPr>
              <a:t>
</a:t>
            </a:r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FFDD00"/>
                </a:solidFill>
              </a:rPr>
              <a:t>rosatom-travel.ru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571500" y="3299268"/>
            <a:ext cx="5000625" cy="960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704" dirty="0">
                <a:solidFill>
                  <a:srgbClr val="F5F5F5"/>
                </a:solidFill>
              </a:rPr>
              <a:t>Коммерческое предложение по разработке платформы «Гостеприимные города Росатома»</a:t>
            </a:r>
            <a:endParaRPr lang="en-US" sz="1704" dirty="0"/>
          </a:p>
        </p:txBody>
      </p:sp>
      <p:sp>
        <p:nvSpPr>
          <p:cNvPr id="5" name="Shape 2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FFDD00"/>
          </a:solidFill>
          <a:ln/>
        </p:spPr>
      </p:sp>
      <p:sp>
        <p:nvSpPr>
          <p:cNvPr id="6" name="Text 3"/>
          <p:cNvSpPr/>
          <p:nvPr/>
        </p:nvSpPr>
        <p:spPr>
          <a:xfrm>
            <a:off x="6842959" y="1665387"/>
            <a:ext cx="1858882" cy="419695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50505"/>
                </a:solidFill>
              </a:rPr>
              <a:t>Rakhmanov.studio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6606546" y="2485132"/>
            <a:ext cx="932678" cy="305395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50505"/>
                </a:solidFill>
              </a:rPr>
              <a:t>Разработчик</a:t>
            </a:r>
            <a:endParaRPr lang="en-US" sz="784" dirty="0"/>
          </a:p>
        </p:txBody>
      </p:sp>
      <p:sp>
        <p:nvSpPr>
          <p:cNvPr id="8" name="Text 5"/>
          <p:cNvSpPr/>
          <p:nvPr/>
        </p:nvSpPr>
        <p:spPr>
          <a:xfrm>
            <a:off x="7539224" y="2485132"/>
            <a:ext cx="1399031" cy="305395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050505"/>
                </a:solidFill>
              </a:rPr>
              <a:t>Rakhmanov.studio</a:t>
            </a:r>
            <a:endParaRPr lang="en-US" sz="834" dirty="0"/>
          </a:p>
        </p:txBody>
      </p:sp>
      <p:sp>
        <p:nvSpPr>
          <p:cNvPr id="9" name="Text 6"/>
          <p:cNvSpPr/>
          <p:nvPr/>
        </p:nvSpPr>
        <p:spPr>
          <a:xfrm>
            <a:off x="6606546" y="2790527"/>
            <a:ext cx="932678" cy="312539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50505"/>
                </a:solidFill>
              </a:rPr>
              <a:t>Заказчик</a:t>
            </a:r>
            <a:endParaRPr lang="en-US" sz="784" dirty="0"/>
          </a:p>
        </p:txBody>
      </p:sp>
      <p:sp>
        <p:nvSpPr>
          <p:cNvPr id="10" name="Text 7"/>
          <p:cNvSpPr/>
          <p:nvPr/>
        </p:nvSpPr>
        <p:spPr>
          <a:xfrm>
            <a:off x="7539224" y="2790527"/>
            <a:ext cx="1399031" cy="312539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050505"/>
                </a:solidFill>
              </a:rPr>
              <a:t>ROSATOM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6606546" y="3103066"/>
            <a:ext cx="932678" cy="312539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50505"/>
                </a:solidFill>
              </a:rPr>
              <a:t>Дата</a:t>
            </a:r>
            <a:endParaRPr lang="en-US" sz="784" dirty="0"/>
          </a:p>
        </p:txBody>
      </p:sp>
      <p:sp>
        <p:nvSpPr>
          <p:cNvPr id="12" name="Text 9"/>
          <p:cNvSpPr/>
          <p:nvPr/>
        </p:nvSpPr>
        <p:spPr>
          <a:xfrm>
            <a:off x="7539224" y="3103066"/>
            <a:ext cx="1399031" cy="312539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050505"/>
                </a:solidFill>
              </a:rPr>
              <a:t>16.02.2026</a:t>
            </a:r>
            <a:endParaRPr lang="en-US" sz="834" dirty="0"/>
          </a:p>
        </p:txBody>
      </p:sp>
      <p:sp>
        <p:nvSpPr>
          <p:cNvPr id="13" name="Text 10"/>
          <p:cNvSpPr/>
          <p:nvPr/>
        </p:nvSpPr>
        <p:spPr>
          <a:xfrm>
            <a:off x="6606546" y="3415605"/>
            <a:ext cx="932678" cy="312539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50505"/>
                </a:solidFill>
              </a:rPr>
              <a:t>Версия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7539224" y="3415605"/>
            <a:ext cx="1399031" cy="312539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050505"/>
                </a:solidFill>
              </a:rPr>
              <a:t>2.0</a:t>
            </a:r>
            <a:endParaRPr lang="en-US" sz="83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D00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129480"/>
            <a:ext cx="2118903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50505"/>
                </a:solidFill>
              </a:rPr>
              <a:t>Резюме проекта</a:t>
            </a:r>
            <a:endParaRPr lang="en-US" sz="1602" dirty="0"/>
          </a:p>
        </p:txBody>
      </p:sp>
      <p:sp>
        <p:nvSpPr>
          <p:cNvPr id="5" name="Text 2"/>
          <p:cNvSpPr/>
          <p:nvPr/>
        </p:nvSpPr>
        <p:spPr>
          <a:xfrm>
            <a:off x="571500" y="1000125"/>
            <a:ext cx="8001000" cy="721519"/>
          </a:xfrm>
          <a:prstGeom prst="rect">
            <a:avLst/>
          </a:prstGeom>
          <a:noFill/>
          <a:ln/>
        </p:spPr>
        <p:txBody>
          <a:bodyPr wrap="square" lIns="212598" tIns="42545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5F5F5"/>
                </a:solidFill>
              </a:rPr>
              <a:t>Проект предполагает создание с нуля полнофункциональной цифровой экосистемы. Платформа станет единой точкой входа для туристов, жителей атомных городов, предпринимателей и работодателей, обеспечивая бесшовное взаимодействие всех участников.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71500" y="1935956"/>
            <a:ext cx="8001000" cy="435769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7" name="Text 4"/>
          <p:cNvSpPr/>
          <p:nvPr/>
        </p:nvSpPr>
        <p:spPr>
          <a:xfrm>
            <a:off x="571500" y="1935956"/>
            <a:ext cx="8001000" cy="435769"/>
          </a:xfrm>
          <a:prstGeom prst="rect">
            <a:avLst/>
          </a:prstGeom>
          <a:noFill/>
          <a:ln/>
        </p:spPr>
        <p:txBody>
          <a:bodyPr wrap="square" lIns="170053" tIns="85090" rIns="170053" bIns="8509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DD00"/>
                </a:solidFill>
              </a:rPr>
              <a:t>Ключевой функционал и описание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571500" y="2371725"/>
            <a:ext cx="2400300" cy="503634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DD00"/>
                </a:solidFill>
              </a:rPr>
              <a:t>Личные кабинеты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2971800" y="2371725"/>
            <a:ext cx="5600700" cy="503634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F5F5F5"/>
                </a:solidFill>
              </a:rPr>
              <a:t>Индивидуальные пространства для пользователей и работодателей с системой заявок, управления избранным и мониторинга статусов.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571500" y="2875359"/>
            <a:ext cx="2400300" cy="507206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DD00"/>
                </a:solidFill>
              </a:rPr>
              <a:t>Интерактивные сервисы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2971800" y="2875359"/>
            <a:ext cx="5600700" cy="507206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F5F5F5"/>
                </a:solidFill>
              </a:rPr>
              <a:t>Динамическая карта городов, каталоги туров и вакансий с развитой системой фильтрации и связей между сущностями.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571500" y="3382566"/>
            <a:ext cx="2400300" cy="507206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DD00"/>
                </a:solidFill>
              </a:rPr>
              <a:t>Образование</a:t>
            </a: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2971800" y="3382566"/>
            <a:ext cx="5600700" cy="507206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F5F5F5"/>
                </a:solidFill>
              </a:rPr>
              <a:t>Интеграция модулей ВШГР для обучения и развития муниципальных команд, акселерации проектов и грантовой поддержки.</a:t>
            </a:r>
            <a:endParaRPr lang="en-US" sz="94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00062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" y="57150"/>
            <a:ext cx="9144000" cy="571500"/>
          </a:xfrm>
          <a:prstGeom prst="rect">
            <a:avLst/>
          </a:prstGeom>
          <a:solidFill>
            <a:srgbClr val="FFDD00"/>
          </a:solidFill>
          <a:ln/>
        </p:spPr>
      </p:sp>
      <p:sp>
        <p:nvSpPr>
          <p:cNvPr id="4" name="Text 1"/>
          <p:cNvSpPr/>
          <p:nvPr/>
        </p:nvSpPr>
        <p:spPr>
          <a:xfrm>
            <a:off x="628650" y="186630"/>
            <a:ext cx="5188093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50505"/>
                </a:solidFill>
              </a:rPr>
              <a:t>Технологический стек и безопасность</a:t>
            </a:r>
            <a:endParaRPr lang="en-US" sz="1602" dirty="0"/>
          </a:p>
        </p:txBody>
      </p:sp>
      <p:sp>
        <p:nvSpPr>
          <p:cNvPr id="5" name="Text 2"/>
          <p:cNvSpPr/>
          <p:nvPr/>
        </p:nvSpPr>
        <p:spPr>
          <a:xfrm>
            <a:off x="628650" y="1085850"/>
            <a:ext cx="444913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DD00"/>
                </a:solidFill>
              </a:rPr>
              <a:t>Стек технологий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628650" y="1534120"/>
            <a:ext cx="1779631" cy="392906"/>
          </a:xfrm>
          <a:prstGeom prst="rect">
            <a:avLst/>
          </a:prstGeom>
          <a:noFill/>
          <a:ln/>
        </p:spPr>
        <p:txBody>
          <a:bodyPr wrap="square" lIns="8509" tIns="127508" rIns="8509" bIns="1275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DD00"/>
                </a:solidFill>
              </a:rPr>
              <a:t>Backend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2408281" y="1534120"/>
            <a:ext cx="2669502" cy="392906"/>
          </a:xfrm>
          <a:prstGeom prst="rect">
            <a:avLst/>
          </a:prstGeom>
          <a:noFill/>
          <a:ln/>
        </p:spPr>
        <p:txBody>
          <a:bodyPr wrap="square" lIns="8509" tIns="127508" rIns="8509" bIns="1275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5F5F5"/>
                </a:solidFill>
              </a:rPr>
              <a:t>Laravel 11+ (PHP 8.3+)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628650" y="1927027"/>
            <a:ext cx="1779631" cy="396478"/>
          </a:xfrm>
          <a:prstGeom prst="rect">
            <a:avLst/>
          </a:prstGeom>
          <a:noFill/>
          <a:ln/>
        </p:spPr>
        <p:txBody>
          <a:bodyPr wrap="square" lIns="8509" tIns="127508" rIns="8509" bIns="1275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DD00"/>
                </a:solidFill>
              </a:rPr>
              <a:t>Frontend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2408281" y="1927027"/>
            <a:ext cx="2669502" cy="396478"/>
          </a:xfrm>
          <a:prstGeom prst="rect">
            <a:avLst/>
          </a:prstGeom>
          <a:noFill/>
          <a:ln/>
        </p:spPr>
        <p:txBody>
          <a:bodyPr wrap="square" lIns="8509" tIns="127508" rIns="8509" bIns="1275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5F5F5"/>
                </a:solidFill>
              </a:rPr>
              <a:t>Vue 3 + Composition API + Pinia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628650" y="2323505"/>
            <a:ext cx="1779631" cy="396478"/>
          </a:xfrm>
          <a:prstGeom prst="rect">
            <a:avLst/>
          </a:prstGeom>
          <a:noFill/>
          <a:ln/>
        </p:spPr>
        <p:txBody>
          <a:bodyPr wrap="square" lIns="8509" tIns="127508" rIns="8509" bIns="1275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DD00"/>
                </a:solidFill>
              </a:rPr>
              <a:t>База данных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2408281" y="2323505"/>
            <a:ext cx="2669502" cy="396478"/>
          </a:xfrm>
          <a:prstGeom prst="rect">
            <a:avLst/>
          </a:prstGeom>
          <a:noFill/>
          <a:ln/>
        </p:spPr>
        <p:txBody>
          <a:bodyPr wrap="square" lIns="8509" tIns="127508" rIns="8509" bIns="1275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5F5F5"/>
                </a:solidFill>
              </a:rPr>
              <a:t>PostgreSQL 16+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628650" y="2719983"/>
            <a:ext cx="1779631" cy="396478"/>
          </a:xfrm>
          <a:prstGeom prst="rect">
            <a:avLst/>
          </a:prstGeom>
          <a:noFill/>
          <a:ln/>
        </p:spPr>
        <p:txBody>
          <a:bodyPr wrap="square" lIns="8509" tIns="127508" rIns="8509" bIns="1275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DD00"/>
                </a:solidFill>
              </a:rPr>
              <a:t>Кэш / Очереди</a:t>
            </a: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2408281" y="2719983"/>
            <a:ext cx="2669502" cy="396478"/>
          </a:xfrm>
          <a:prstGeom prst="rect">
            <a:avLst/>
          </a:prstGeom>
          <a:noFill/>
          <a:ln/>
        </p:spPr>
        <p:txBody>
          <a:bodyPr wrap="square" lIns="8509" tIns="127508" rIns="8509" bIns="1275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5F5F5"/>
                </a:solidFill>
              </a:rPr>
              <a:t>Redis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628650" y="3116461"/>
            <a:ext cx="1779631" cy="396478"/>
          </a:xfrm>
          <a:prstGeom prst="rect">
            <a:avLst/>
          </a:prstGeom>
          <a:noFill/>
          <a:ln/>
        </p:spPr>
        <p:txBody>
          <a:bodyPr wrap="square" lIns="8509" tIns="127508" rIns="8509" bIns="1275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DD00"/>
                </a:solidFill>
              </a:rPr>
              <a:t>Инфраструктура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2408281" y="3116461"/>
            <a:ext cx="2669502" cy="396478"/>
          </a:xfrm>
          <a:prstGeom prst="rect">
            <a:avLst/>
          </a:prstGeom>
          <a:noFill/>
          <a:ln/>
        </p:spPr>
        <p:txBody>
          <a:bodyPr wrap="square" lIns="8509" tIns="127508" rIns="8509" bIns="1275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5F5F5"/>
                </a:solidFill>
              </a:rPr>
              <a:t>Docker / Kubernetes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5663571" y="1157288"/>
            <a:ext cx="296607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DD00"/>
                </a:solidFill>
              </a:rPr>
              <a:t>Безопасность</a:t>
            </a:r>
            <a:endParaRPr lang="en-US" sz="1193" dirty="0"/>
          </a:p>
        </p:txBody>
      </p:sp>
      <p:sp>
        <p:nvSpPr>
          <p:cNvPr id="17" name="Text 14"/>
          <p:cNvSpPr/>
          <p:nvPr/>
        </p:nvSpPr>
        <p:spPr>
          <a:xfrm>
            <a:off x="5663571" y="1605558"/>
            <a:ext cx="296607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DD00"/>
                </a:solidFill>
              </a:rPr>
              <a:t>Соответствие 152-ФЗ</a:t>
            </a:r>
            <a:endParaRPr lang="en-US" sz="885" dirty="0"/>
          </a:p>
        </p:txBody>
      </p:sp>
      <p:sp>
        <p:nvSpPr>
          <p:cNvPr id="18" name="Text 15"/>
          <p:cNvSpPr/>
          <p:nvPr/>
        </p:nvSpPr>
        <p:spPr>
          <a:xfrm>
            <a:off x="5663571" y="1843088"/>
            <a:ext cx="291919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F5F5F5"/>
                </a:solidFill>
              </a:rPr>
              <a:t>Полное соблюдение закона «О персональных</a:t>
            </a:r>
            <a:endParaRPr lang="en-US" sz="942" dirty="0"/>
          </a:p>
        </p:txBody>
      </p:sp>
      <p:sp>
        <p:nvSpPr>
          <p:cNvPr id="19" name="Text 16"/>
          <p:cNvSpPr/>
          <p:nvPr/>
        </p:nvSpPr>
        <p:spPr>
          <a:xfrm>
            <a:off x="5663571" y="2035969"/>
            <a:ext cx="57867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F5F5F5"/>
                </a:solidFill>
              </a:rPr>
              <a:t>данных».</a:t>
            </a:r>
            <a:endParaRPr lang="en-US" sz="942" dirty="0"/>
          </a:p>
        </p:txBody>
      </p:sp>
      <p:sp>
        <p:nvSpPr>
          <p:cNvPr id="20" name="Text 17"/>
          <p:cNvSpPr/>
          <p:nvPr/>
        </p:nvSpPr>
        <p:spPr>
          <a:xfrm>
            <a:off x="5663571" y="2398514"/>
            <a:ext cx="296607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DD00"/>
                </a:solidFill>
              </a:rPr>
              <a:t>Локализация данных</a:t>
            </a:r>
            <a:endParaRPr lang="en-US" sz="885" dirty="0"/>
          </a:p>
        </p:txBody>
      </p:sp>
      <p:sp>
        <p:nvSpPr>
          <p:cNvPr id="21" name="Text 18"/>
          <p:cNvSpPr/>
          <p:nvPr/>
        </p:nvSpPr>
        <p:spPr>
          <a:xfrm>
            <a:off x="5663571" y="2636044"/>
            <a:ext cx="243802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F5F5F5"/>
                </a:solidFill>
              </a:rPr>
              <a:t>Хранение и обработка всех данных на</a:t>
            </a:r>
            <a:endParaRPr lang="en-US" sz="942" dirty="0"/>
          </a:p>
        </p:txBody>
      </p:sp>
      <p:sp>
        <p:nvSpPr>
          <p:cNvPr id="22" name="Text 19"/>
          <p:cNvSpPr/>
          <p:nvPr/>
        </p:nvSpPr>
        <p:spPr>
          <a:xfrm>
            <a:off x="5663571" y="2828925"/>
            <a:ext cx="99939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F5F5F5"/>
                </a:solidFill>
              </a:rPr>
              <a:t>территории РФ.</a:t>
            </a:r>
            <a:endParaRPr lang="en-US" sz="942" dirty="0"/>
          </a:p>
        </p:txBody>
      </p:sp>
      <p:sp>
        <p:nvSpPr>
          <p:cNvPr id="23" name="Text 20"/>
          <p:cNvSpPr/>
          <p:nvPr/>
        </p:nvSpPr>
        <p:spPr>
          <a:xfrm>
            <a:off x="5663571" y="3191470"/>
            <a:ext cx="296607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DD00"/>
                </a:solidFill>
              </a:rPr>
              <a:t>Защита OWASP</a:t>
            </a:r>
            <a:endParaRPr lang="en-US" sz="885" dirty="0"/>
          </a:p>
        </p:txBody>
      </p:sp>
      <p:sp>
        <p:nvSpPr>
          <p:cNvPr id="24" name="Text 21"/>
          <p:cNvSpPr/>
          <p:nvPr/>
        </p:nvSpPr>
        <p:spPr>
          <a:xfrm>
            <a:off x="5663571" y="3429000"/>
            <a:ext cx="290879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F5F5F5"/>
                </a:solidFill>
              </a:rPr>
              <a:t>Архитектура защищена от SQL-инъекций, XSS</a:t>
            </a:r>
            <a:endParaRPr lang="en-US" sz="942" dirty="0"/>
          </a:p>
        </p:txBody>
      </p:sp>
      <p:sp>
        <p:nvSpPr>
          <p:cNvPr id="25" name="Text 22"/>
          <p:cNvSpPr/>
          <p:nvPr/>
        </p:nvSpPr>
        <p:spPr>
          <a:xfrm>
            <a:off x="5663571" y="3621881"/>
            <a:ext cx="75612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F5F5F5"/>
                </a:solidFill>
              </a:rPr>
              <a:t>и CSRF атак.</a:t>
            </a:r>
            <a:endParaRPr lang="en-US" sz="942" dirty="0"/>
          </a:p>
        </p:txBody>
      </p:sp>
      <p:sp>
        <p:nvSpPr>
          <p:cNvPr id="26" name="Text 23"/>
          <p:cNvSpPr/>
          <p:nvPr/>
        </p:nvSpPr>
        <p:spPr>
          <a:xfrm>
            <a:off x="5663571" y="3984427"/>
            <a:ext cx="296607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DD00"/>
                </a:solidFill>
              </a:rPr>
              <a:t>Ролевая модель</a:t>
            </a:r>
            <a:endParaRPr lang="en-US" sz="885" dirty="0"/>
          </a:p>
        </p:txBody>
      </p:sp>
      <p:sp>
        <p:nvSpPr>
          <p:cNvPr id="27" name="Text 24"/>
          <p:cNvSpPr/>
          <p:nvPr/>
        </p:nvSpPr>
        <p:spPr>
          <a:xfrm>
            <a:off x="5663571" y="4221956"/>
            <a:ext cx="284695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F5F5F5"/>
                </a:solidFill>
              </a:rPr>
              <a:t>Строгое разграничение прав доступа (RBAC).</a:t>
            </a:r>
            <a:endParaRPr lang="en-US" sz="94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D00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129480"/>
            <a:ext cx="4464118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50505"/>
                </a:solidFill>
              </a:rPr>
              <a:t>Этап 0: Аналитика и UX/UI Дизайн</a:t>
            </a:r>
            <a:endParaRPr lang="en-US" sz="1602" dirty="0"/>
          </a:p>
        </p:txBody>
      </p:sp>
      <p:sp>
        <p:nvSpPr>
          <p:cNvPr id="5" name="Shape 2"/>
          <p:cNvSpPr/>
          <p:nvPr/>
        </p:nvSpPr>
        <p:spPr>
          <a:xfrm>
            <a:off x="571500" y="1000125"/>
            <a:ext cx="2771775" cy="1146572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1000125"/>
            <a:ext cx="2771775" cy="28575"/>
          </a:xfrm>
          <a:prstGeom prst="rect">
            <a:avLst/>
          </a:prstGeom>
          <a:solidFill>
            <a:srgbClr val="FFDD00"/>
          </a:solidFill>
          <a:ln/>
        </p:spPr>
      </p:sp>
      <p:sp>
        <p:nvSpPr>
          <p:cNvPr id="7" name="Text 4"/>
          <p:cNvSpPr/>
          <p:nvPr/>
        </p:nvSpPr>
        <p:spPr>
          <a:xfrm>
            <a:off x="785813" y="1285875"/>
            <a:ext cx="1020552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D00"/>
                </a:solidFill>
              </a:rPr>
              <a:t>Срок реализации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2322277" y="1285875"/>
            <a:ext cx="806686" cy="269677"/>
          </a:xfrm>
          <a:prstGeom prst="rect">
            <a:avLst/>
          </a:prstGeom>
          <a:noFill/>
          <a:ln/>
        </p:spPr>
        <p:txBody>
          <a:bodyPr wrap="none" lIns="0" tIns="42545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5F5F5"/>
                </a:solidFill>
              </a:rPr>
              <a:t>4 недели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785813" y="1848445"/>
            <a:ext cx="640900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D00"/>
                </a:solidFill>
              </a:rPr>
              <a:t>Стоимость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2091500" y="1848445"/>
            <a:ext cx="1037462" cy="269677"/>
          </a:xfrm>
          <a:prstGeom prst="rect">
            <a:avLst/>
          </a:prstGeom>
          <a:noFill/>
          <a:ln/>
        </p:spPr>
        <p:txBody>
          <a:bodyPr wrap="none" lIns="0" tIns="42545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5F5F5"/>
                </a:solidFill>
              </a:rPr>
              <a:t>400 000 руб.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571500" y="2403872"/>
            <a:ext cx="2771775" cy="10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F5F5F5"/>
                </a:solidFill>
              </a:rPr>
              <a:t>Проектирование фундамента системы. В ходе работ проводится детальный анализ бизнес-процессов, проектируется информационная архитектура и создается визуальный облик платформы.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3771900" y="1000125"/>
            <a:ext cx="4800600" cy="300038"/>
          </a:xfrm>
          <a:prstGeom prst="rect">
            <a:avLst/>
          </a:prstGeom>
          <a:noFill/>
          <a:ln/>
        </p:spPr>
        <p:txBody>
          <a:bodyPr wrap="square" lIns="0" tIns="0" rIns="8509" bIns="8509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DD00"/>
                </a:solidFill>
              </a:rPr>
              <a:t>Ключевые результаты этапа</a:t>
            </a:r>
            <a:endParaRPr lang="en-US" sz="987" dirty="0"/>
          </a:p>
        </p:txBody>
      </p:sp>
      <p:sp>
        <p:nvSpPr>
          <p:cNvPr id="13" name="Text 10"/>
          <p:cNvSpPr/>
          <p:nvPr/>
        </p:nvSpPr>
        <p:spPr>
          <a:xfrm>
            <a:off x="3771900" y="1300163"/>
            <a:ext cx="1680204" cy="700785"/>
          </a:xfrm>
          <a:prstGeom prst="rect">
            <a:avLst/>
          </a:prstGeom>
          <a:noFill/>
          <a:ln/>
        </p:spPr>
        <p:txBody>
          <a:bodyPr wrap="square" lIns="8509" tIns="170053" rIns="8509" bIns="8509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FFDD00"/>
                </a:solidFill>
              </a:rPr>
              <a:t>Архитектура</a:t>
            </a:r>
            <a:endParaRPr lang="en-US" sz="885" dirty="0"/>
          </a:p>
        </p:txBody>
      </p:sp>
      <p:sp>
        <p:nvSpPr>
          <p:cNvPr id="14" name="Text 11"/>
          <p:cNvSpPr/>
          <p:nvPr/>
        </p:nvSpPr>
        <p:spPr>
          <a:xfrm>
            <a:off x="5452104" y="1300163"/>
            <a:ext cx="3120396" cy="700785"/>
          </a:xfrm>
          <a:prstGeom prst="rect">
            <a:avLst/>
          </a:prstGeom>
          <a:noFill/>
          <a:ln/>
        </p:spPr>
        <p:txBody>
          <a:bodyPr wrap="square" lIns="8509" tIns="170053" rIns="8509" bIns="8509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F5F5F5"/>
                </a:solidFill>
              </a:rPr>
              <a:t>Информационная архитектура и ER-диаграмма сущностей, описывающая связи между городами, турами и пользователями.</a:t>
            </a:r>
            <a:endParaRPr lang="en-US" sz="942" dirty="0"/>
          </a:p>
        </p:txBody>
      </p:sp>
      <p:sp>
        <p:nvSpPr>
          <p:cNvPr id="15" name="Text 12"/>
          <p:cNvSpPr/>
          <p:nvPr/>
        </p:nvSpPr>
        <p:spPr>
          <a:xfrm>
            <a:off x="3771900" y="2000948"/>
            <a:ext cx="1680204" cy="697213"/>
          </a:xfrm>
          <a:prstGeom prst="rect">
            <a:avLst/>
          </a:prstGeom>
          <a:noFill/>
          <a:ln/>
        </p:spPr>
        <p:txBody>
          <a:bodyPr wrap="square" lIns="8509" tIns="170053" rIns="8509" bIns="8509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FFDD00"/>
                </a:solidFill>
              </a:rPr>
              <a:t>Прототипы</a:t>
            </a:r>
            <a:endParaRPr lang="en-US" sz="885" dirty="0"/>
          </a:p>
        </p:txBody>
      </p:sp>
      <p:sp>
        <p:nvSpPr>
          <p:cNvPr id="16" name="Text 13"/>
          <p:cNvSpPr/>
          <p:nvPr/>
        </p:nvSpPr>
        <p:spPr>
          <a:xfrm>
            <a:off x="5452104" y="2000948"/>
            <a:ext cx="3120396" cy="697213"/>
          </a:xfrm>
          <a:prstGeom prst="rect">
            <a:avLst/>
          </a:prstGeom>
          <a:noFill/>
          <a:ln/>
        </p:spPr>
        <p:txBody>
          <a:bodyPr wrap="square" lIns="8509" tIns="170053" rIns="8509" bIns="8509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F5F5F5"/>
                </a:solidFill>
              </a:rPr>
              <a:t>Интерактивные прототипы в Figma для Desktop и Mobile версий, охватывающие все ключевые пользовательские сценарии.</a:t>
            </a:r>
            <a:endParaRPr lang="en-US" sz="942" dirty="0"/>
          </a:p>
        </p:txBody>
      </p:sp>
      <p:sp>
        <p:nvSpPr>
          <p:cNvPr id="17" name="Text 14"/>
          <p:cNvSpPr/>
          <p:nvPr/>
        </p:nvSpPr>
        <p:spPr>
          <a:xfrm>
            <a:off x="3771900" y="2698161"/>
            <a:ext cx="1680204" cy="697213"/>
          </a:xfrm>
          <a:prstGeom prst="rect">
            <a:avLst/>
          </a:prstGeom>
          <a:noFill/>
          <a:ln/>
        </p:spPr>
        <p:txBody>
          <a:bodyPr wrap="square" lIns="8509" tIns="170053" rIns="8509" bIns="8509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FFDD00"/>
                </a:solidFill>
              </a:rPr>
              <a:t>Дизайн-система</a:t>
            </a:r>
            <a:endParaRPr lang="en-US" sz="885" dirty="0"/>
          </a:p>
        </p:txBody>
      </p:sp>
      <p:sp>
        <p:nvSpPr>
          <p:cNvPr id="18" name="Text 15"/>
          <p:cNvSpPr/>
          <p:nvPr/>
        </p:nvSpPr>
        <p:spPr>
          <a:xfrm>
            <a:off x="5452104" y="2698161"/>
            <a:ext cx="3120396" cy="697213"/>
          </a:xfrm>
          <a:prstGeom prst="rect">
            <a:avLst/>
          </a:prstGeom>
          <a:noFill/>
          <a:ln/>
        </p:spPr>
        <p:txBody>
          <a:bodyPr wrap="square" lIns="8509" tIns="170053" rIns="8509" bIns="8509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F5F5F5"/>
                </a:solidFill>
              </a:rPr>
              <a:t>Полноценный UI-kit, разработанный в строгом соответствии с официальным брендбуком Росатома (цвета, шрифты, компоненты).</a:t>
            </a:r>
            <a:endParaRPr lang="en-US" sz="942" dirty="0"/>
          </a:p>
        </p:txBody>
      </p:sp>
      <p:sp>
        <p:nvSpPr>
          <p:cNvPr id="19" name="Text 16"/>
          <p:cNvSpPr/>
          <p:nvPr/>
        </p:nvSpPr>
        <p:spPr>
          <a:xfrm>
            <a:off x="3771900" y="3395374"/>
            <a:ext cx="1680204" cy="697213"/>
          </a:xfrm>
          <a:prstGeom prst="rect">
            <a:avLst/>
          </a:prstGeom>
          <a:noFill/>
          <a:ln/>
        </p:spPr>
        <p:txBody>
          <a:bodyPr wrap="square" lIns="8509" tIns="170053" rIns="8509" bIns="8509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FFDD00"/>
                </a:solidFill>
              </a:rPr>
              <a:t>Макеты</a:t>
            </a:r>
            <a:endParaRPr lang="en-US" sz="885" dirty="0"/>
          </a:p>
        </p:txBody>
      </p:sp>
      <p:sp>
        <p:nvSpPr>
          <p:cNvPr id="20" name="Text 17"/>
          <p:cNvSpPr/>
          <p:nvPr/>
        </p:nvSpPr>
        <p:spPr>
          <a:xfrm>
            <a:off x="5452104" y="3395374"/>
            <a:ext cx="3120396" cy="697213"/>
          </a:xfrm>
          <a:prstGeom prst="rect">
            <a:avLst/>
          </a:prstGeom>
          <a:noFill/>
          <a:ln/>
        </p:spPr>
        <p:txBody>
          <a:bodyPr wrap="square" lIns="8509" tIns="170053" rIns="8509" bIns="8509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F5F5F5"/>
                </a:solidFill>
              </a:rPr>
              <a:t>Готовые к разработке дизайн-макеты всех типовых страниц платформы в высоком разрешении.</a:t>
            </a:r>
            <a:endParaRPr lang="en-US" sz="94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D00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129480"/>
            <a:ext cx="4930918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50505"/>
                </a:solidFill>
              </a:rPr>
              <a:t>Этап 1: Информационная платформа</a:t>
            </a:r>
            <a:endParaRPr lang="en-US" sz="1602" dirty="0"/>
          </a:p>
        </p:txBody>
      </p:sp>
      <p:sp>
        <p:nvSpPr>
          <p:cNvPr id="5" name="Text 2"/>
          <p:cNvSpPr/>
          <p:nvPr/>
        </p:nvSpPr>
        <p:spPr>
          <a:xfrm>
            <a:off x="571500" y="1000125"/>
            <a:ext cx="102055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D00"/>
                </a:solidFill>
              </a:rPr>
              <a:t>Срок реализации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571500" y="1171575"/>
            <a:ext cx="102055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5F5F5"/>
                </a:solidFill>
              </a:rPr>
              <a:t>12 недель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3823022" y="1000125"/>
            <a:ext cx="118011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D00"/>
                </a:solidFill>
              </a:rPr>
              <a:t>Стоимость этапа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3823022" y="1171575"/>
            <a:ext cx="118011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5F5F5"/>
                </a:solidFill>
              </a:rPr>
              <a:t>1 900 000 руб.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7234107" y="1000125"/>
            <a:ext cx="133836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D00"/>
                </a:solidFill>
              </a:rPr>
              <a:t>Статус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7234107" y="1171575"/>
            <a:ext cx="133836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5F5F5"/>
                </a:solidFill>
              </a:rPr>
              <a:t>Создание ядра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571500" y="1634133"/>
            <a:ext cx="800100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F5F5F5"/>
                </a:solidFill>
              </a:rPr>
              <a:t>На данном этапе создается основное контентное ядро системы. Платформа наполняется функциональными каталогами, которые позволяют пользователям удобно искать информацию о городах и доступных туристических возможностях.</a:t>
            </a:r>
            <a:endParaRPr lang="en-US" sz="942" dirty="0"/>
          </a:p>
        </p:txBody>
      </p:sp>
      <p:sp>
        <p:nvSpPr>
          <p:cNvPr id="12" name="Shape 9"/>
          <p:cNvSpPr/>
          <p:nvPr/>
        </p:nvSpPr>
        <p:spPr>
          <a:xfrm>
            <a:off x="571500" y="2259881"/>
            <a:ext cx="2000250" cy="40005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3" name="Text 10"/>
          <p:cNvSpPr/>
          <p:nvPr/>
        </p:nvSpPr>
        <p:spPr>
          <a:xfrm>
            <a:off x="571500" y="2259881"/>
            <a:ext cx="2000250" cy="400050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DD00"/>
                </a:solidFill>
              </a:rPr>
              <a:t>Функциональный блок</a:t>
            </a:r>
            <a:endParaRPr lang="en-US" sz="784" dirty="0"/>
          </a:p>
        </p:txBody>
      </p:sp>
      <p:sp>
        <p:nvSpPr>
          <p:cNvPr id="14" name="Shape 11"/>
          <p:cNvSpPr/>
          <p:nvPr/>
        </p:nvSpPr>
        <p:spPr>
          <a:xfrm>
            <a:off x="2571750" y="2259881"/>
            <a:ext cx="6000750" cy="40005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5" name="Text 12"/>
          <p:cNvSpPr/>
          <p:nvPr/>
        </p:nvSpPr>
        <p:spPr>
          <a:xfrm>
            <a:off x="2571750" y="2259881"/>
            <a:ext cx="6000750" cy="400050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DD00"/>
                </a:solidFill>
              </a:rPr>
              <a:t>Ключевые возможности</a:t>
            </a:r>
            <a:endParaRPr lang="en-US" sz="784" dirty="0"/>
          </a:p>
        </p:txBody>
      </p:sp>
      <p:sp>
        <p:nvSpPr>
          <p:cNvPr id="16" name="Text 13"/>
          <p:cNvSpPr/>
          <p:nvPr/>
        </p:nvSpPr>
        <p:spPr>
          <a:xfrm>
            <a:off x="571500" y="2659931"/>
            <a:ext cx="2000250" cy="460772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DD00"/>
                </a:solidFill>
              </a:rPr>
              <a:t>Карта и города</a:t>
            </a:r>
            <a:endParaRPr lang="en-US" sz="784" dirty="0"/>
          </a:p>
        </p:txBody>
      </p:sp>
      <p:sp>
        <p:nvSpPr>
          <p:cNvPr id="17" name="Text 14"/>
          <p:cNvSpPr/>
          <p:nvPr/>
        </p:nvSpPr>
        <p:spPr>
          <a:xfrm>
            <a:off x="2571750" y="2659931"/>
            <a:ext cx="6000750" cy="460772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5F5F5"/>
                </a:solidFill>
              </a:rPr>
              <a:t>Интерактивная карта атомных городов с детализированными страницами инфраструктуры, описанием достопримечательностей и связями с турами.</a:t>
            </a:r>
            <a:endParaRPr lang="en-US" sz="834" dirty="0"/>
          </a:p>
        </p:txBody>
      </p:sp>
      <p:sp>
        <p:nvSpPr>
          <p:cNvPr id="18" name="Text 15"/>
          <p:cNvSpPr/>
          <p:nvPr/>
        </p:nvSpPr>
        <p:spPr>
          <a:xfrm>
            <a:off x="571500" y="3120703"/>
            <a:ext cx="2000250" cy="464344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DD00"/>
                </a:solidFill>
              </a:rPr>
              <a:t>Туры возможностей</a:t>
            </a:r>
            <a:endParaRPr lang="en-US" sz="784" dirty="0"/>
          </a:p>
        </p:txBody>
      </p:sp>
      <p:sp>
        <p:nvSpPr>
          <p:cNvPr id="19" name="Text 16"/>
          <p:cNvSpPr/>
          <p:nvPr/>
        </p:nvSpPr>
        <p:spPr>
          <a:xfrm>
            <a:off x="2571750" y="3120703"/>
            <a:ext cx="6000750" cy="464344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5F5F5"/>
                </a:solidFill>
              </a:rPr>
              <a:t>Полнофункциональный каталог туров с системой фильтрации по сезонам, проектам и условиям участия, а также формами сбора заявок.</a:t>
            </a:r>
            <a:endParaRPr lang="en-US" sz="834" dirty="0"/>
          </a:p>
        </p:txBody>
      </p:sp>
      <p:sp>
        <p:nvSpPr>
          <p:cNvPr id="20" name="Text 17"/>
          <p:cNvSpPr/>
          <p:nvPr/>
        </p:nvSpPr>
        <p:spPr>
          <a:xfrm>
            <a:off x="571500" y="3585046"/>
            <a:ext cx="2000250" cy="464344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DD00"/>
                </a:solidFill>
              </a:rPr>
              <a:t>Админ-панель</a:t>
            </a:r>
            <a:endParaRPr lang="en-US" sz="784" dirty="0"/>
          </a:p>
        </p:txBody>
      </p:sp>
      <p:sp>
        <p:nvSpPr>
          <p:cNvPr id="21" name="Text 18"/>
          <p:cNvSpPr/>
          <p:nvPr/>
        </p:nvSpPr>
        <p:spPr>
          <a:xfrm>
            <a:off x="2571750" y="3585046"/>
            <a:ext cx="6000750" cy="464344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5F5F5"/>
                </a:solidFill>
              </a:rPr>
              <a:t>Разработка инструментария для управления контентом, медиафайлами, связями сущностей и первичной обработки входящих заявок.</a:t>
            </a:r>
            <a:endParaRPr lang="en-US" sz="83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00062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" y="57150"/>
            <a:ext cx="9144000" cy="571500"/>
          </a:xfrm>
          <a:prstGeom prst="rect">
            <a:avLst/>
          </a:prstGeom>
          <a:solidFill>
            <a:srgbClr val="FFDD00"/>
          </a:solidFill>
          <a:ln/>
        </p:spPr>
      </p:sp>
      <p:sp>
        <p:nvSpPr>
          <p:cNvPr id="4" name="Text 1"/>
          <p:cNvSpPr/>
          <p:nvPr/>
        </p:nvSpPr>
        <p:spPr>
          <a:xfrm>
            <a:off x="628650" y="186630"/>
            <a:ext cx="4767476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50505"/>
                </a:solidFill>
              </a:rPr>
              <a:t>Этап 2: Платформа взаимодействия</a:t>
            </a:r>
            <a:endParaRPr lang="en-US" sz="1602" dirty="0"/>
          </a:p>
        </p:txBody>
      </p:sp>
      <p:sp>
        <p:nvSpPr>
          <p:cNvPr id="5" name="Text 2"/>
          <p:cNvSpPr/>
          <p:nvPr/>
        </p:nvSpPr>
        <p:spPr>
          <a:xfrm>
            <a:off x="628650" y="1042988"/>
            <a:ext cx="800100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F5F5F5"/>
                </a:solidFill>
              </a:rPr>
              <a:t>Создание инструментов активного взаимодействия пользователей с платформой. Внедряются личные кабинеты и специализированные сервисы для поиска работы и общения с местными жителями.</a:t>
            </a:r>
            <a:endParaRPr lang="en-US" sz="942" dirty="0"/>
          </a:p>
        </p:txBody>
      </p:sp>
      <p:sp>
        <p:nvSpPr>
          <p:cNvPr id="6" name="Shape 3"/>
          <p:cNvSpPr/>
          <p:nvPr/>
        </p:nvSpPr>
        <p:spPr>
          <a:xfrm>
            <a:off x="628650" y="1668735"/>
            <a:ext cx="1406314" cy="678656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7" name="Shape 4"/>
          <p:cNvSpPr/>
          <p:nvPr/>
        </p:nvSpPr>
        <p:spPr>
          <a:xfrm>
            <a:off x="628650" y="1668735"/>
            <a:ext cx="28575" cy="678656"/>
          </a:xfrm>
          <a:prstGeom prst="rect">
            <a:avLst/>
          </a:prstGeom>
          <a:solidFill>
            <a:srgbClr val="FFDD00"/>
          </a:solidFill>
          <a:ln/>
        </p:spPr>
      </p:sp>
      <p:sp>
        <p:nvSpPr>
          <p:cNvPr id="8" name="Text 5"/>
          <p:cNvSpPr/>
          <p:nvPr/>
        </p:nvSpPr>
        <p:spPr>
          <a:xfrm>
            <a:off x="807244" y="1876797"/>
            <a:ext cx="102055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D00"/>
                </a:solidFill>
              </a:rPr>
              <a:t>Срок реализации</a:t>
            </a:r>
            <a:endParaRPr lang="en-US" sz="683" dirty="0"/>
          </a:p>
        </p:txBody>
      </p:sp>
      <p:sp>
        <p:nvSpPr>
          <p:cNvPr id="9" name="Text 6"/>
          <p:cNvSpPr/>
          <p:nvPr/>
        </p:nvSpPr>
        <p:spPr>
          <a:xfrm>
            <a:off x="807244" y="2012528"/>
            <a:ext cx="102055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5F5F5"/>
                </a:solidFill>
              </a:rPr>
              <a:t>8 недель</a:t>
            </a:r>
            <a:endParaRPr lang="en-US" sz="1193" dirty="0"/>
          </a:p>
        </p:txBody>
      </p:sp>
      <p:sp>
        <p:nvSpPr>
          <p:cNvPr id="10" name="Shape 7"/>
          <p:cNvSpPr/>
          <p:nvPr/>
        </p:nvSpPr>
        <p:spPr>
          <a:xfrm>
            <a:off x="2292139" y="1668735"/>
            <a:ext cx="1565877" cy="678656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1" name="Shape 8"/>
          <p:cNvSpPr/>
          <p:nvPr/>
        </p:nvSpPr>
        <p:spPr>
          <a:xfrm>
            <a:off x="2292139" y="1668735"/>
            <a:ext cx="28575" cy="678656"/>
          </a:xfrm>
          <a:prstGeom prst="rect">
            <a:avLst/>
          </a:prstGeom>
          <a:solidFill>
            <a:srgbClr val="FFDD00"/>
          </a:solidFill>
          <a:ln/>
        </p:spPr>
      </p:sp>
      <p:sp>
        <p:nvSpPr>
          <p:cNvPr id="12" name="Text 9"/>
          <p:cNvSpPr/>
          <p:nvPr/>
        </p:nvSpPr>
        <p:spPr>
          <a:xfrm>
            <a:off x="2470733" y="1876797"/>
            <a:ext cx="118011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D00"/>
                </a:solidFill>
              </a:rPr>
              <a:t>Стоимость</a:t>
            </a:r>
            <a:endParaRPr lang="en-US" sz="683" dirty="0"/>
          </a:p>
        </p:txBody>
      </p:sp>
      <p:sp>
        <p:nvSpPr>
          <p:cNvPr id="13" name="Text 10"/>
          <p:cNvSpPr/>
          <p:nvPr/>
        </p:nvSpPr>
        <p:spPr>
          <a:xfrm>
            <a:off x="2470733" y="2012528"/>
            <a:ext cx="118011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5F5F5"/>
                </a:solidFill>
              </a:rPr>
              <a:t>1 500 000 руб.</a:t>
            </a:r>
            <a:endParaRPr lang="en-US" sz="1193" dirty="0"/>
          </a:p>
        </p:txBody>
      </p:sp>
      <p:sp>
        <p:nvSpPr>
          <p:cNvPr id="14" name="Shape 11"/>
          <p:cNvSpPr/>
          <p:nvPr/>
        </p:nvSpPr>
        <p:spPr>
          <a:xfrm>
            <a:off x="628650" y="2561704"/>
            <a:ext cx="8001000" cy="414338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5" name="Text 12"/>
          <p:cNvSpPr/>
          <p:nvPr/>
        </p:nvSpPr>
        <p:spPr>
          <a:xfrm>
            <a:off x="628650" y="2561704"/>
            <a:ext cx="8001000" cy="414338"/>
          </a:xfrm>
          <a:prstGeom prst="rect">
            <a:avLst/>
          </a:prstGeom>
          <a:noFill/>
          <a:ln/>
        </p:spPr>
        <p:txBody>
          <a:bodyPr wrap="square" lIns="170053" tIns="102108" rIns="8509" bIns="8509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DD00"/>
                </a:solidFill>
              </a:rPr>
              <a:t>Сервисы и описание функционала</a:t>
            </a:r>
            <a:endParaRPr lang="en-US" sz="885" dirty="0"/>
          </a:p>
        </p:txBody>
      </p:sp>
      <p:sp>
        <p:nvSpPr>
          <p:cNvPr id="16" name="Text 13"/>
          <p:cNvSpPr/>
          <p:nvPr/>
        </p:nvSpPr>
        <p:spPr>
          <a:xfrm>
            <a:off x="628650" y="2976042"/>
            <a:ext cx="2000250" cy="503634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DD00"/>
                </a:solidFill>
              </a:rPr>
              <a:t>Личный кабинет</a:t>
            </a:r>
            <a:endParaRPr lang="en-US" sz="885" dirty="0"/>
          </a:p>
        </p:txBody>
      </p:sp>
      <p:sp>
        <p:nvSpPr>
          <p:cNvPr id="17" name="Text 14"/>
          <p:cNvSpPr/>
          <p:nvPr/>
        </p:nvSpPr>
        <p:spPr>
          <a:xfrm>
            <a:off x="2628900" y="2976042"/>
            <a:ext cx="6000750" cy="503634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F5F5F5"/>
                </a:solidFill>
              </a:rPr>
              <a:t>Профиль пользователя с авторизацией через ВК/Яндекс, управление избранным и мониторинг статуса поданных заявок на туры.</a:t>
            </a:r>
            <a:endParaRPr lang="en-US" sz="942" dirty="0"/>
          </a:p>
        </p:txBody>
      </p:sp>
      <p:sp>
        <p:nvSpPr>
          <p:cNvPr id="18" name="Text 15"/>
          <p:cNvSpPr/>
          <p:nvPr/>
        </p:nvSpPr>
        <p:spPr>
          <a:xfrm>
            <a:off x="628650" y="3479676"/>
            <a:ext cx="2000250" cy="507206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DD00"/>
                </a:solidFill>
              </a:rPr>
              <a:t>Вакансии</a:t>
            </a:r>
            <a:endParaRPr lang="en-US" sz="885" dirty="0"/>
          </a:p>
        </p:txBody>
      </p:sp>
      <p:sp>
        <p:nvSpPr>
          <p:cNvPr id="19" name="Text 16"/>
          <p:cNvSpPr/>
          <p:nvPr/>
        </p:nvSpPr>
        <p:spPr>
          <a:xfrm>
            <a:off x="2628900" y="3479676"/>
            <a:ext cx="6000750" cy="507206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F5F5F5"/>
                </a:solidFill>
              </a:rPr>
              <a:t>Полноценный раздел трудоустройства с каталогом вакансий, кабинетом работодателя и системой откликов для соискателей.</a:t>
            </a:r>
            <a:endParaRPr lang="en-US" sz="942" dirty="0"/>
          </a:p>
        </p:txBody>
      </p:sp>
      <p:sp>
        <p:nvSpPr>
          <p:cNvPr id="20" name="Text 17"/>
          <p:cNvSpPr/>
          <p:nvPr/>
        </p:nvSpPr>
        <p:spPr>
          <a:xfrm>
            <a:off x="628650" y="3986882"/>
            <a:ext cx="2000250" cy="507206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DD00"/>
                </a:solidFill>
              </a:rPr>
              <a:t>Соседи (Бадди)</a:t>
            </a:r>
            <a:endParaRPr lang="en-US" sz="885" dirty="0"/>
          </a:p>
        </p:txBody>
      </p:sp>
      <p:sp>
        <p:nvSpPr>
          <p:cNvPr id="21" name="Text 18"/>
          <p:cNvSpPr/>
          <p:nvPr/>
        </p:nvSpPr>
        <p:spPr>
          <a:xfrm>
            <a:off x="2628900" y="3986882"/>
            <a:ext cx="6000750" cy="507206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F5F5F5"/>
                </a:solidFill>
              </a:rPr>
              <a:t>Сервис для связи с инициативными жителями городов для обмена опытом, помощи в переезде и неформального общения.</a:t>
            </a:r>
            <a:endParaRPr lang="en-US" sz="942" dirty="0"/>
          </a:p>
        </p:txBody>
      </p:sp>
      <p:sp>
        <p:nvSpPr>
          <p:cNvPr id="22" name="Text 19"/>
          <p:cNvSpPr/>
          <p:nvPr/>
        </p:nvSpPr>
        <p:spPr>
          <a:xfrm>
            <a:off x="628650" y="4494088"/>
            <a:ext cx="2000250" cy="507206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DD00"/>
                </a:solidFill>
              </a:rPr>
              <a:t>Администрирование</a:t>
            </a:r>
            <a:endParaRPr lang="en-US" sz="885" dirty="0"/>
          </a:p>
        </p:txBody>
      </p:sp>
      <p:sp>
        <p:nvSpPr>
          <p:cNvPr id="23" name="Text 20"/>
          <p:cNvSpPr/>
          <p:nvPr/>
        </p:nvSpPr>
        <p:spPr>
          <a:xfrm>
            <a:off x="2628900" y="4494088"/>
            <a:ext cx="6000750" cy="507206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F5F5F5"/>
                </a:solidFill>
              </a:rPr>
              <a:t>Расширенная панель модерации заявок, управление ролями пользователей и инструменты экспорта аналитических данных.</a:t>
            </a:r>
            <a:endParaRPr lang="en-US" sz="94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D00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129480"/>
            <a:ext cx="4517613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50505"/>
                </a:solidFill>
              </a:rPr>
              <a:t>План-график реализации проекта</a:t>
            </a:r>
            <a:endParaRPr lang="en-US" sz="1602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492919"/>
          </a:xfrm>
          <a:prstGeom prst="rect">
            <a:avLst/>
          </a:prstGeom>
          <a:noFill/>
          <a:ln/>
        </p:spPr>
        <p:txBody>
          <a:bodyPr wrap="square" lIns="212598" tIns="42545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5F5F5"/>
                </a:solidFill>
              </a:rPr>
              <a:t>Общая длительность основного цикла разработки (Этапы 0–2) составляет 24 недели или 6 календарных месяцев. Работы ведутся последовательно с контрольными точками приемки после каждого этапа.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75072" y="1996678"/>
            <a:ext cx="1943100" cy="407194"/>
          </a:xfrm>
          <a:prstGeom prst="rect">
            <a:avLst/>
          </a:prstGeom>
          <a:solidFill>
            <a:srgbClr val="2A2A2A"/>
          </a:solidFill>
          <a:ln w="9144">
            <a:solidFill>
              <a:srgbClr val="4444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5072" y="1996678"/>
            <a:ext cx="1943100" cy="407194"/>
          </a:xfrm>
          <a:prstGeom prst="rect">
            <a:avLst/>
          </a:prstGeom>
          <a:noFill/>
          <a:ln/>
        </p:spPr>
        <p:txBody>
          <a:bodyPr wrap="square" lIns="170053" tIns="127508" rIns="8509" bIns="8509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D00"/>
                </a:solidFill>
              </a:rPr>
              <a:t>Этап разработки</a:t>
            </a:r>
            <a:endParaRPr lang="en-US" sz="683" dirty="0"/>
          </a:p>
        </p:txBody>
      </p:sp>
      <p:sp>
        <p:nvSpPr>
          <p:cNvPr id="8" name="Shape 5"/>
          <p:cNvSpPr/>
          <p:nvPr/>
        </p:nvSpPr>
        <p:spPr>
          <a:xfrm>
            <a:off x="2514600" y="1996678"/>
            <a:ext cx="1092994" cy="407194"/>
          </a:xfrm>
          <a:prstGeom prst="rect">
            <a:avLst/>
          </a:prstGeom>
          <a:solidFill>
            <a:srgbClr val="2A2A2A"/>
          </a:solidFill>
          <a:ln w="9144">
            <a:solidFill>
              <a:srgbClr val="44444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514600" y="1996678"/>
            <a:ext cx="1092994" cy="407194"/>
          </a:xfrm>
          <a:prstGeom prst="rect">
            <a:avLst/>
          </a:prstGeom>
          <a:noFill/>
          <a:ln/>
        </p:spPr>
        <p:txBody>
          <a:bodyPr wrap="square" lIns="8509" tIns="127508" rIns="8509" bIns="8509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D00"/>
                </a:solidFill>
              </a:rPr>
              <a:t>Месяц 1</a:t>
            </a:r>
            <a:endParaRPr lang="en-US" sz="683" dirty="0"/>
          </a:p>
        </p:txBody>
      </p:sp>
      <p:sp>
        <p:nvSpPr>
          <p:cNvPr id="10" name="Shape 7"/>
          <p:cNvSpPr/>
          <p:nvPr/>
        </p:nvSpPr>
        <p:spPr>
          <a:xfrm>
            <a:off x="3600450" y="1996678"/>
            <a:ext cx="1092994" cy="407194"/>
          </a:xfrm>
          <a:prstGeom prst="rect">
            <a:avLst/>
          </a:prstGeom>
          <a:solidFill>
            <a:srgbClr val="2A2A2A"/>
          </a:solidFill>
          <a:ln w="9144">
            <a:solidFill>
              <a:srgbClr val="44444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00450" y="1996678"/>
            <a:ext cx="1092994" cy="407194"/>
          </a:xfrm>
          <a:prstGeom prst="rect">
            <a:avLst/>
          </a:prstGeom>
          <a:noFill/>
          <a:ln/>
        </p:spPr>
        <p:txBody>
          <a:bodyPr wrap="square" lIns="8509" tIns="127508" rIns="8509" bIns="8509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D00"/>
                </a:solidFill>
              </a:rPr>
              <a:t>Месяц 2</a:t>
            </a:r>
            <a:endParaRPr lang="en-US" sz="683" dirty="0"/>
          </a:p>
        </p:txBody>
      </p:sp>
      <p:sp>
        <p:nvSpPr>
          <p:cNvPr id="12" name="Shape 9"/>
          <p:cNvSpPr/>
          <p:nvPr/>
        </p:nvSpPr>
        <p:spPr>
          <a:xfrm>
            <a:off x="4686300" y="1996678"/>
            <a:ext cx="1092994" cy="407194"/>
          </a:xfrm>
          <a:prstGeom prst="rect">
            <a:avLst/>
          </a:prstGeom>
          <a:solidFill>
            <a:srgbClr val="2A2A2A"/>
          </a:solidFill>
          <a:ln w="9144">
            <a:solidFill>
              <a:srgbClr val="44444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86300" y="1996678"/>
            <a:ext cx="1092994" cy="407194"/>
          </a:xfrm>
          <a:prstGeom prst="rect">
            <a:avLst/>
          </a:prstGeom>
          <a:noFill/>
          <a:ln/>
        </p:spPr>
        <p:txBody>
          <a:bodyPr wrap="square" lIns="8509" tIns="127508" rIns="8509" bIns="8509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D00"/>
                </a:solidFill>
              </a:rPr>
              <a:t>Месяц 3</a:t>
            </a:r>
            <a:endParaRPr lang="en-US" sz="683" dirty="0"/>
          </a:p>
        </p:txBody>
      </p:sp>
      <p:sp>
        <p:nvSpPr>
          <p:cNvPr id="14" name="Shape 11"/>
          <p:cNvSpPr/>
          <p:nvPr/>
        </p:nvSpPr>
        <p:spPr>
          <a:xfrm>
            <a:off x="5772150" y="1996678"/>
            <a:ext cx="1092994" cy="407194"/>
          </a:xfrm>
          <a:prstGeom prst="rect">
            <a:avLst/>
          </a:prstGeom>
          <a:solidFill>
            <a:srgbClr val="2A2A2A"/>
          </a:solidFill>
          <a:ln w="9144">
            <a:solidFill>
              <a:srgbClr val="44444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72150" y="1996678"/>
            <a:ext cx="1092994" cy="407194"/>
          </a:xfrm>
          <a:prstGeom prst="rect">
            <a:avLst/>
          </a:prstGeom>
          <a:noFill/>
          <a:ln/>
        </p:spPr>
        <p:txBody>
          <a:bodyPr wrap="square" lIns="8509" tIns="127508" rIns="8509" bIns="8509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D00"/>
                </a:solidFill>
              </a:rPr>
              <a:t>Месяц 4</a:t>
            </a:r>
            <a:endParaRPr lang="en-US" sz="683" dirty="0"/>
          </a:p>
        </p:txBody>
      </p:sp>
      <p:sp>
        <p:nvSpPr>
          <p:cNvPr id="16" name="Shape 13"/>
          <p:cNvSpPr/>
          <p:nvPr/>
        </p:nvSpPr>
        <p:spPr>
          <a:xfrm>
            <a:off x="6858000" y="1996678"/>
            <a:ext cx="1092994" cy="407194"/>
          </a:xfrm>
          <a:prstGeom prst="rect">
            <a:avLst/>
          </a:prstGeom>
          <a:solidFill>
            <a:srgbClr val="2A2A2A"/>
          </a:solidFill>
          <a:ln w="9144">
            <a:solidFill>
              <a:srgbClr val="44444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58000" y="1996678"/>
            <a:ext cx="1092994" cy="407194"/>
          </a:xfrm>
          <a:prstGeom prst="rect">
            <a:avLst/>
          </a:prstGeom>
          <a:noFill/>
          <a:ln/>
        </p:spPr>
        <p:txBody>
          <a:bodyPr wrap="square" lIns="8509" tIns="127508" rIns="8509" bIns="8509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D00"/>
                </a:solidFill>
              </a:rPr>
              <a:t>Месяц 5</a:t>
            </a:r>
            <a:endParaRPr lang="en-US" sz="683" dirty="0"/>
          </a:p>
        </p:txBody>
      </p:sp>
      <p:sp>
        <p:nvSpPr>
          <p:cNvPr id="18" name="Shape 15"/>
          <p:cNvSpPr/>
          <p:nvPr/>
        </p:nvSpPr>
        <p:spPr>
          <a:xfrm>
            <a:off x="7943850" y="1996678"/>
            <a:ext cx="1092994" cy="407194"/>
          </a:xfrm>
          <a:prstGeom prst="rect">
            <a:avLst/>
          </a:prstGeom>
          <a:solidFill>
            <a:srgbClr val="2A2A2A"/>
          </a:solidFill>
          <a:ln w="9144">
            <a:solidFill>
              <a:srgbClr val="44444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943850" y="1996678"/>
            <a:ext cx="1092994" cy="407194"/>
          </a:xfrm>
          <a:prstGeom prst="rect">
            <a:avLst/>
          </a:prstGeom>
          <a:noFill/>
          <a:ln/>
        </p:spPr>
        <p:txBody>
          <a:bodyPr wrap="square" lIns="8509" tIns="127508" rIns="8509" bIns="8509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D00"/>
                </a:solidFill>
              </a:rPr>
              <a:t>Месяц 6</a:t>
            </a:r>
            <a:endParaRPr lang="en-US" sz="683" dirty="0"/>
          </a:p>
        </p:txBody>
      </p:sp>
      <p:sp>
        <p:nvSpPr>
          <p:cNvPr id="20" name="Shape 17"/>
          <p:cNvSpPr/>
          <p:nvPr/>
        </p:nvSpPr>
        <p:spPr>
          <a:xfrm>
            <a:off x="575072" y="2396728"/>
            <a:ext cx="1935956" cy="514350"/>
          </a:xfrm>
          <a:prstGeom prst="rect">
            <a:avLst/>
          </a:prstGeom>
          <a:solidFill>
            <a:srgbClr val="1A1A1A"/>
          </a:solidFill>
          <a:ln w="9144">
            <a:solidFill>
              <a:srgbClr val="44444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75072" y="2396728"/>
            <a:ext cx="1935956" cy="514350"/>
          </a:xfrm>
          <a:prstGeom prst="rect">
            <a:avLst/>
          </a:prstGeom>
          <a:noFill/>
          <a:ln/>
        </p:spPr>
        <p:txBody>
          <a:bodyPr wrap="square" lIns="170053" tIns="0" rIns="8509" bIns="8509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5F5F5"/>
                </a:solidFill>
              </a:rPr>
              <a:t>Этап 0: Аналитика и Дизайн</a:t>
            </a:r>
            <a:endParaRPr lang="en-US" sz="784" dirty="0"/>
          </a:p>
        </p:txBody>
      </p:sp>
      <p:sp>
        <p:nvSpPr>
          <p:cNvPr id="22" name="Shape 19"/>
          <p:cNvSpPr/>
          <p:nvPr/>
        </p:nvSpPr>
        <p:spPr>
          <a:xfrm>
            <a:off x="575072" y="2911078"/>
            <a:ext cx="1935956" cy="514350"/>
          </a:xfrm>
          <a:prstGeom prst="rect">
            <a:avLst/>
          </a:prstGeom>
          <a:solidFill>
            <a:srgbClr val="1A1A1A"/>
          </a:solidFill>
          <a:ln w="9144">
            <a:solidFill>
              <a:srgbClr val="44444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75072" y="2911078"/>
            <a:ext cx="1935956" cy="514350"/>
          </a:xfrm>
          <a:prstGeom prst="rect">
            <a:avLst/>
          </a:prstGeom>
          <a:noFill/>
          <a:ln/>
        </p:spPr>
        <p:txBody>
          <a:bodyPr wrap="square" lIns="170053" tIns="0" rIns="8509" bIns="8509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5F5F5"/>
                </a:solidFill>
              </a:rPr>
              <a:t>Этап 1: Информационное ядро</a:t>
            </a:r>
            <a:endParaRPr lang="en-US" sz="784" dirty="0"/>
          </a:p>
        </p:txBody>
      </p:sp>
      <p:sp>
        <p:nvSpPr>
          <p:cNvPr id="24" name="Shape 21"/>
          <p:cNvSpPr/>
          <p:nvPr/>
        </p:nvSpPr>
        <p:spPr>
          <a:xfrm>
            <a:off x="575072" y="3425428"/>
            <a:ext cx="1935956" cy="514350"/>
          </a:xfrm>
          <a:prstGeom prst="rect">
            <a:avLst/>
          </a:prstGeom>
          <a:solidFill>
            <a:srgbClr val="1A1A1A"/>
          </a:solidFill>
          <a:ln w="9144">
            <a:solidFill>
              <a:srgbClr val="44444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75072" y="3425428"/>
            <a:ext cx="1935956" cy="514350"/>
          </a:xfrm>
          <a:prstGeom prst="rect">
            <a:avLst/>
          </a:prstGeom>
          <a:noFill/>
          <a:ln/>
        </p:spPr>
        <p:txBody>
          <a:bodyPr wrap="square" lIns="170053" tIns="0" rIns="8509" bIns="8509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5F5F5"/>
                </a:solidFill>
              </a:rPr>
              <a:t>Этап 2: Личные кабинеты</a:t>
            </a:r>
            <a:endParaRPr lang="en-US" sz="78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18353"/>
            <a:ext cx="5400675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DD00"/>
                </a:solidFill>
              </a:rPr>
              <a:t>Бюджет и финансовые условия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1216642"/>
            <a:ext cx="540051" cy="371475"/>
          </a:xfrm>
          <a:prstGeom prst="rect">
            <a:avLst/>
          </a:prstGeom>
          <a:noFill/>
          <a:ln/>
        </p:spPr>
        <p:txBody>
          <a:bodyPr wrap="square" lIns="127508" tIns="85090" rIns="8509" bIns="8509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D00"/>
                </a:solidFill>
              </a:rPr>
              <a:t>№</a:t>
            </a:r>
            <a:endParaRPr lang="en-US" sz="683" dirty="0"/>
          </a:p>
        </p:txBody>
      </p:sp>
      <p:sp>
        <p:nvSpPr>
          <p:cNvPr id="5" name="Text 2"/>
          <p:cNvSpPr/>
          <p:nvPr/>
        </p:nvSpPr>
        <p:spPr>
          <a:xfrm>
            <a:off x="1111551" y="1216642"/>
            <a:ext cx="2700338" cy="371475"/>
          </a:xfrm>
          <a:prstGeom prst="rect">
            <a:avLst/>
          </a:prstGeom>
          <a:noFill/>
          <a:ln/>
        </p:spPr>
        <p:txBody>
          <a:bodyPr wrap="square" lIns="127508" tIns="85090" rIns="8509" bIns="8509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D00"/>
                </a:solidFill>
              </a:rPr>
              <a:t>Название этапа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3811888" y="1216642"/>
            <a:ext cx="2160287" cy="371475"/>
          </a:xfrm>
          <a:prstGeom prst="rect">
            <a:avLst/>
          </a:prstGeom>
          <a:noFill/>
          <a:ln/>
        </p:spPr>
        <p:txBody>
          <a:bodyPr wrap="square" lIns="127508" tIns="85090" rIns="8509" bIns="8509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D00"/>
                </a:solidFill>
              </a:rPr>
              <a:t>Стоимость (руб.)</a:t>
            </a:r>
            <a:endParaRPr lang="en-US" sz="683" dirty="0"/>
          </a:p>
        </p:txBody>
      </p:sp>
      <p:sp>
        <p:nvSpPr>
          <p:cNvPr id="7" name="Text 4"/>
          <p:cNvSpPr/>
          <p:nvPr/>
        </p:nvSpPr>
        <p:spPr>
          <a:xfrm>
            <a:off x="571500" y="1588117"/>
            <a:ext cx="540051" cy="335756"/>
          </a:xfrm>
          <a:prstGeom prst="rect">
            <a:avLst/>
          </a:prstGeom>
          <a:noFill/>
          <a:ln/>
        </p:spPr>
        <p:txBody>
          <a:bodyPr wrap="square" lIns="127508" tIns="170053" rIns="8509" bIns="8509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5F5F5"/>
                </a:solidFill>
              </a:rPr>
              <a:t>0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1111551" y="1588117"/>
            <a:ext cx="2700338" cy="335756"/>
          </a:xfrm>
          <a:prstGeom prst="rect">
            <a:avLst/>
          </a:prstGeom>
          <a:noFill/>
          <a:ln/>
        </p:spPr>
        <p:txBody>
          <a:bodyPr wrap="square" lIns="127508" tIns="170053" rIns="8509" bIns="8509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5F5F5"/>
                </a:solidFill>
              </a:rPr>
              <a:t>Подготовительный (Аналитика, UX/UI)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3811888" y="1588117"/>
            <a:ext cx="2160287" cy="335756"/>
          </a:xfrm>
          <a:prstGeom prst="rect">
            <a:avLst/>
          </a:prstGeom>
          <a:noFill/>
          <a:ln/>
        </p:spPr>
        <p:txBody>
          <a:bodyPr wrap="square" lIns="127508" tIns="170053" rIns="8509" bIns="8509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5F5F5"/>
                </a:solidFill>
              </a:rPr>
              <a:t>400 000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571500" y="1923873"/>
            <a:ext cx="540051" cy="332184"/>
          </a:xfrm>
          <a:prstGeom prst="rect">
            <a:avLst/>
          </a:prstGeom>
          <a:noFill/>
          <a:ln/>
        </p:spPr>
        <p:txBody>
          <a:bodyPr wrap="square" lIns="127508" tIns="170053" rIns="8509" bIns="8509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5F5F5"/>
                </a:solidFill>
              </a:rPr>
              <a:t>1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1111551" y="1923873"/>
            <a:ext cx="2700338" cy="332184"/>
          </a:xfrm>
          <a:prstGeom prst="rect">
            <a:avLst/>
          </a:prstGeom>
          <a:noFill/>
          <a:ln/>
        </p:spPr>
        <p:txBody>
          <a:bodyPr wrap="square" lIns="127508" tIns="170053" rIns="8509" bIns="8509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5F5F5"/>
                </a:solidFill>
              </a:rPr>
              <a:t>Информационная платформа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3811888" y="1923873"/>
            <a:ext cx="2160287" cy="332184"/>
          </a:xfrm>
          <a:prstGeom prst="rect">
            <a:avLst/>
          </a:prstGeom>
          <a:noFill/>
          <a:ln/>
        </p:spPr>
        <p:txBody>
          <a:bodyPr wrap="square" lIns="127508" tIns="170053" rIns="8509" bIns="8509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5F5F5"/>
                </a:solidFill>
              </a:rPr>
              <a:t>1 900 000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571500" y="2256058"/>
            <a:ext cx="540051" cy="332184"/>
          </a:xfrm>
          <a:prstGeom prst="rect">
            <a:avLst/>
          </a:prstGeom>
          <a:noFill/>
          <a:ln/>
        </p:spPr>
        <p:txBody>
          <a:bodyPr wrap="square" lIns="127508" tIns="170053" rIns="8509" bIns="8509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5F5F5"/>
                </a:solidFill>
              </a:rPr>
              <a:t>2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1111551" y="2256058"/>
            <a:ext cx="2700338" cy="332184"/>
          </a:xfrm>
          <a:prstGeom prst="rect">
            <a:avLst/>
          </a:prstGeom>
          <a:noFill/>
          <a:ln/>
        </p:spPr>
        <p:txBody>
          <a:bodyPr wrap="square" lIns="127508" tIns="170053" rIns="8509" bIns="8509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5F5F5"/>
                </a:solidFill>
              </a:rPr>
              <a:t>Платформа взаимодействия</a:t>
            </a:r>
            <a:endParaRPr lang="en-US" sz="942" dirty="0"/>
          </a:p>
        </p:txBody>
      </p:sp>
      <p:sp>
        <p:nvSpPr>
          <p:cNvPr id="15" name="Text 12"/>
          <p:cNvSpPr/>
          <p:nvPr/>
        </p:nvSpPr>
        <p:spPr>
          <a:xfrm>
            <a:off x="3811888" y="2256058"/>
            <a:ext cx="2160287" cy="332184"/>
          </a:xfrm>
          <a:prstGeom prst="rect">
            <a:avLst/>
          </a:prstGeom>
          <a:noFill/>
          <a:ln/>
        </p:spPr>
        <p:txBody>
          <a:bodyPr wrap="square" lIns="127508" tIns="170053" rIns="8509" bIns="8509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5F5F5"/>
                </a:solidFill>
              </a:rPr>
              <a:t>1 500 000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1111551" y="2588242"/>
            <a:ext cx="2700338" cy="439341"/>
          </a:xfrm>
          <a:prstGeom prst="rect">
            <a:avLst/>
          </a:prstGeom>
          <a:noFill/>
          <a:ln/>
        </p:spPr>
        <p:txBody>
          <a:bodyPr wrap="square" lIns="127508" tIns="255143" rIns="8509" bIns="8509" rtlCol="0" anchor="ctr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DD00"/>
                </a:solidFill>
              </a:rPr>
              <a:t>ИТОГО (Создание продукта)</a:t>
            </a:r>
            <a:endParaRPr lang="en-US" sz="1090" dirty="0"/>
          </a:p>
        </p:txBody>
      </p:sp>
      <p:sp>
        <p:nvSpPr>
          <p:cNvPr id="17" name="Text 14"/>
          <p:cNvSpPr/>
          <p:nvPr/>
        </p:nvSpPr>
        <p:spPr>
          <a:xfrm>
            <a:off x="3811888" y="2588242"/>
            <a:ext cx="2160287" cy="439341"/>
          </a:xfrm>
          <a:prstGeom prst="rect">
            <a:avLst/>
          </a:prstGeom>
          <a:noFill/>
          <a:ln/>
        </p:spPr>
        <p:txBody>
          <a:bodyPr wrap="square" lIns="127508" tIns="255143" rIns="8509" bIns="8509" rtlCol="0" anchor="ctr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DD00"/>
                </a:solidFill>
              </a:rPr>
              <a:t>3 800 000</a:t>
            </a:r>
            <a:endParaRPr lang="en-US" sz="1090" dirty="0"/>
          </a:p>
        </p:txBody>
      </p:sp>
      <p:sp>
        <p:nvSpPr>
          <p:cNvPr id="18" name="Shape 15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FFDD00"/>
          </a:solidFill>
          <a:ln/>
        </p:spPr>
      </p:sp>
      <p:sp>
        <p:nvSpPr>
          <p:cNvPr id="19" name="Text 16"/>
          <p:cNvSpPr/>
          <p:nvPr/>
        </p:nvSpPr>
        <p:spPr>
          <a:xfrm>
            <a:off x="6686550" y="600075"/>
            <a:ext cx="2171700" cy="283964"/>
          </a:xfrm>
          <a:prstGeom prst="rect">
            <a:avLst/>
          </a:prstGeom>
          <a:noFill/>
          <a:ln/>
        </p:spPr>
        <p:txBody>
          <a:bodyPr wrap="none" lIns="0" tIns="42545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50505"/>
                </a:solidFill>
              </a:rPr>
              <a:t>Порядок оплаты</a:t>
            </a:r>
            <a:endParaRPr lang="en-US" sz="1193" dirty="0"/>
          </a:p>
        </p:txBody>
      </p:sp>
      <p:sp>
        <p:nvSpPr>
          <p:cNvPr id="20" name="Text 17"/>
          <p:cNvSpPr/>
          <p:nvPr/>
        </p:nvSpPr>
        <p:spPr>
          <a:xfrm>
            <a:off x="6686550" y="1098352"/>
            <a:ext cx="21717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50505"/>
                </a:solidFill>
              </a:rPr>
              <a:t>Авансовый платеж</a:t>
            </a:r>
            <a:endParaRPr lang="en-US" sz="683" dirty="0"/>
          </a:p>
        </p:txBody>
      </p:sp>
      <p:sp>
        <p:nvSpPr>
          <p:cNvPr id="21" name="Text 18"/>
          <p:cNvSpPr/>
          <p:nvPr/>
        </p:nvSpPr>
        <p:spPr>
          <a:xfrm>
            <a:off x="6686550" y="1271588"/>
            <a:ext cx="191391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050505"/>
                </a:solidFill>
              </a:rPr>
              <a:t>50% от стоимости этапа перед</a:t>
            </a:r>
            <a:endParaRPr lang="en-US" sz="942" dirty="0"/>
          </a:p>
        </p:txBody>
      </p:sp>
      <p:sp>
        <p:nvSpPr>
          <p:cNvPr id="22" name="Text 19"/>
          <p:cNvSpPr/>
          <p:nvPr/>
        </p:nvSpPr>
        <p:spPr>
          <a:xfrm>
            <a:off x="6686550" y="1451604"/>
            <a:ext cx="98050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050505"/>
                </a:solidFill>
              </a:rPr>
              <a:t>началом работ.</a:t>
            </a:r>
            <a:endParaRPr lang="en-US" sz="942" dirty="0"/>
          </a:p>
        </p:txBody>
      </p:sp>
      <p:sp>
        <p:nvSpPr>
          <p:cNvPr id="23" name="Text 20"/>
          <p:cNvSpPr/>
          <p:nvPr/>
        </p:nvSpPr>
        <p:spPr>
          <a:xfrm>
            <a:off x="6686550" y="1808429"/>
            <a:ext cx="21717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50505"/>
                </a:solidFill>
              </a:rPr>
              <a:t>Финальный расчет</a:t>
            </a:r>
            <a:endParaRPr lang="en-US" sz="683" dirty="0"/>
          </a:p>
        </p:txBody>
      </p:sp>
      <p:sp>
        <p:nvSpPr>
          <p:cNvPr id="24" name="Text 21"/>
          <p:cNvSpPr/>
          <p:nvPr/>
        </p:nvSpPr>
        <p:spPr>
          <a:xfrm>
            <a:off x="6686550" y="1981665"/>
            <a:ext cx="174611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050505"/>
                </a:solidFill>
              </a:rPr>
              <a:t>50% после приемки этапа и</a:t>
            </a:r>
            <a:endParaRPr lang="en-US" sz="942" dirty="0"/>
          </a:p>
        </p:txBody>
      </p:sp>
      <p:sp>
        <p:nvSpPr>
          <p:cNvPr id="25" name="Text 22"/>
          <p:cNvSpPr/>
          <p:nvPr/>
        </p:nvSpPr>
        <p:spPr>
          <a:xfrm>
            <a:off x="6686550" y="2161682"/>
            <a:ext cx="110742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050505"/>
                </a:solidFill>
              </a:rPr>
              <a:t>подписания акта.</a:t>
            </a:r>
            <a:endParaRPr lang="en-US" sz="942" dirty="0"/>
          </a:p>
        </p:txBody>
      </p:sp>
      <p:sp>
        <p:nvSpPr>
          <p:cNvPr id="26" name="Text 23"/>
          <p:cNvSpPr/>
          <p:nvPr/>
        </p:nvSpPr>
        <p:spPr>
          <a:xfrm>
            <a:off x="6686550" y="2625663"/>
            <a:ext cx="21717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50505"/>
                </a:solidFill>
              </a:rPr>
              <a:t>Валюта</a:t>
            </a:r>
            <a:endParaRPr lang="en-US" sz="683" dirty="0"/>
          </a:p>
        </p:txBody>
      </p:sp>
      <p:sp>
        <p:nvSpPr>
          <p:cNvPr id="27" name="Text 24"/>
          <p:cNvSpPr/>
          <p:nvPr/>
        </p:nvSpPr>
        <p:spPr>
          <a:xfrm>
            <a:off x="6686550" y="2798899"/>
            <a:ext cx="179252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050505"/>
                </a:solidFill>
              </a:rPr>
              <a:t>Все расчеты производятся в</a:t>
            </a:r>
            <a:endParaRPr lang="en-US" sz="942" dirty="0"/>
          </a:p>
        </p:txBody>
      </p:sp>
      <p:sp>
        <p:nvSpPr>
          <p:cNvPr id="28" name="Text 25"/>
          <p:cNvSpPr/>
          <p:nvPr/>
        </p:nvSpPr>
        <p:spPr>
          <a:xfrm>
            <a:off x="6686550" y="2978916"/>
            <a:ext cx="67857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050505"/>
                </a:solidFill>
              </a:rPr>
              <a:t>рублях РФ.</a:t>
            </a:r>
            <a:endParaRPr lang="en-US" sz="942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554854"/>
            <a:ext cx="58293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DD00"/>
                </a:solidFill>
              </a:rPr>
              <a:t>Реквизиты и контакты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2224580"/>
            <a:ext cx="1836223" cy="392906"/>
          </a:xfrm>
          <a:prstGeom prst="rect">
            <a:avLst/>
          </a:prstGeom>
          <a:noFill/>
          <a:ln/>
        </p:spPr>
        <p:txBody>
          <a:bodyPr wrap="square" lIns="0" tIns="127508" rIns="0" bIns="1275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DD00"/>
                </a:solidFill>
              </a:rPr>
              <a:t>Исполнитель</a:t>
            </a:r>
            <a:endParaRPr lang="en-US" sz="885" dirty="0"/>
          </a:p>
        </p:txBody>
      </p:sp>
      <p:sp>
        <p:nvSpPr>
          <p:cNvPr id="5" name="Text 2"/>
          <p:cNvSpPr/>
          <p:nvPr/>
        </p:nvSpPr>
        <p:spPr>
          <a:xfrm>
            <a:off x="2407723" y="2224580"/>
            <a:ext cx="3410136" cy="392906"/>
          </a:xfrm>
          <a:prstGeom prst="rect">
            <a:avLst/>
          </a:prstGeom>
          <a:noFill/>
          <a:ln/>
        </p:spPr>
        <p:txBody>
          <a:bodyPr wrap="square" lIns="0" tIns="127508" rIns="0" bIns="1275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5F5F5"/>
                </a:solidFill>
              </a:rPr>
              <a:t>ИП РАХМАНОВ АЛЕКСЕЙ СЕРГЕЕВИЧ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571500" y="2617487"/>
            <a:ext cx="1836223" cy="396478"/>
          </a:xfrm>
          <a:prstGeom prst="rect">
            <a:avLst/>
          </a:prstGeom>
          <a:noFill/>
          <a:ln/>
        </p:spPr>
        <p:txBody>
          <a:bodyPr wrap="square" lIns="0" tIns="127508" rIns="0" bIns="1275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DD00"/>
                </a:solidFill>
              </a:rPr>
              <a:t>ОГРНИП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2407723" y="2617487"/>
            <a:ext cx="3410136" cy="396478"/>
          </a:xfrm>
          <a:prstGeom prst="rect">
            <a:avLst/>
          </a:prstGeom>
          <a:noFill/>
          <a:ln/>
        </p:spPr>
        <p:txBody>
          <a:bodyPr wrap="square" lIns="0" tIns="127508" rIns="0" bIns="1275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5F5F5"/>
                </a:solidFill>
              </a:rPr>
              <a:t>326774600051186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571500" y="3013965"/>
            <a:ext cx="1836223" cy="396478"/>
          </a:xfrm>
          <a:prstGeom prst="rect">
            <a:avLst/>
          </a:prstGeom>
          <a:noFill/>
          <a:ln/>
        </p:spPr>
        <p:txBody>
          <a:bodyPr wrap="square" lIns="0" tIns="127508" rIns="0" bIns="1275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DD00"/>
                </a:solidFill>
              </a:rPr>
              <a:t>ИНН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2407723" y="3013965"/>
            <a:ext cx="3410136" cy="396478"/>
          </a:xfrm>
          <a:prstGeom prst="rect">
            <a:avLst/>
          </a:prstGeom>
          <a:noFill/>
          <a:ln/>
        </p:spPr>
        <p:txBody>
          <a:bodyPr wrap="square" lIns="0" tIns="127508" rIns="0" bIns="1275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5F5F5"/>
                </a:solidFill>
              </a:rPr>
              <a:t>771975863309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571500" y="3410443"/>
            <a:ext cx="1836223" cy="396478"/>
          </a:xfrm>
          <a:prstGeom prst="rect">
            <a:avLst/>
          </a:prstGeom>
          <a:noFill/>
          <a:ln/>
        </p:spPr>
        <p:txBody>
          <a:bodyPr wrap="square" lIns="0" tIns="127508" rIns="0" bIns="1275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DD00"/>
                </a:solidFill>
              </a:rPr>
              <a:t>Сайт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2407723" y="3410443"/>
            <a:ext cx="3410136" cy="396478"/>
          </a:xfrm>
          <a:prstGeom prst="rect">
            <a:avLst/>
          </a:prstGeom>
          <a:noFill/>
          <a:ln/>
        </p:spPr>
        <p:txBody>
          <a:bodyPr wrap="square" lIns="0" tIns="127508" rIns="0" bIns="1275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5F5F5"/>
                </a:solidFill>
              </a:rPr>
              <a:t>rakhmanov.studio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571500" y="3806921"/>
            <a:ext cx="1836223" cy="396478"/>
          </a:xfrm>
          <a:prstGeom prst="rect">
            <a:avLst/>
          </a:prstGeom>
          <a:noFill/>
          <a:ln/>
        </p:spPr>
        <p:txBody>
          <a:bodyPr wrap="square" lIns="0" tIns="127508" rIns="0" bIns="1275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DD00"/>
                </a:solidFill>
              </a:rPr>
              <a:t>Телефон</a:t>
            </a: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2407723" y="3806921"/>
            <a:ext cx="3410136" cy="396478"/>
          </a:xfrm>
          <a:prstGeom prst="rect">
            <a:avLst/>
          </a:prstGeom>
          <a:noFill/>
          <a:ln/>
        </p:spPr>
        <p:txBody>
          <a:bodyPr wrap="square" lIns="0" tIns="127508" rIns="0" bIns="1275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5F5F5"/>
                </a:solidFill>
              </a:rPr>
              <a:t>+7 (916) 023-02-02</a:t>
            </a:r>
            <a:endParaRPr lang="en-US" sz="942" dirty="0"/>
          </a:p>
        </p:txBody>
      </p:sp>
      <p:sp>
        <p:nvSpPr>
          <p:cNvPr id="14" name="Shape 11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FFDD00"/>
          </a:solidFill>
          <a:ln/>
        </p:spPr>
      </p:sp>
      <p:sp>
        <p:nvSpPr>
          <p:cNvPr id="15" name="Text 12"/>
          <p:cNvSpPr/>
          <p:nvPr/>
        </p:nvSpPr>
        <p:spPr>
          <a:xfrm>
            <a:off x="6803864" y="2249388"/>
            <a:ext cx="1937045" cy="584002"/>
          </a:xfrm>
          <a:prstGeom prst="rect">
            <a:avLst/>
          </a:prstGeom>
          <a:noFill/>
          <a:ln/>
        </p:spPr>
        <p:txBody>
          <a:bodyPr wrap="square" lIns="212598" tIns="127508" rIns="212598" bIns="127508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50505"/>
                </a:solidFill>
              </a:rPr>
              <a:t>RAKHMANOV</a:t>
            </a:r>
            <a:endParaRPr lang="en-US" sz="1602" dirty="0"/>
          </a:p>
        </p:txBody>
      </p:sp>
      <p:sp>
        <p:nvSpPr>
          <p:cNvPr id="16" name="Text 13"/>
          <p:cNvSpPr/>
          <p:nvPr/>
        </p:nvSpPr>
        <p:spPr>
          <a:xfrm>
            <a:off x="7527364" y="2976265"/>
            <a:ext cx="49007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50505"/>
                </a:solidFill>
              </a:rPr>
              <a:t>STUDIO</a:t>
            </a:r>
            <a:endParaRPr lang="en-US" sz="88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18353"/>
            <a:ext cx="5400675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DD00"/>
                </a:solidFill>
              </a:rPr>
              <a:t>Результаты и передача проекта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778669" y="1323798"/>
            <a:ext cx="519350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DD00"/>
                </a:solidFill>
              </a:rPr>
              <a:t>Программный код</a:t>
            </a:r>
            <a:endParaRPr lang="en-US" sz="987" dirty="0"/>
          </a:p>
        </p:txBody>
      </p:sp>
      <p:sp>
        <p:nvSpPr>
          <p:cNvPr id="5" name="Text 2"/>
          <p:cNvSpPr/>
          <p:nvPr/>
        </p:nvSpPr>
        <p:spPr>
          <a:xfrm>
            <a:off x="778669" y="1575615"/>
            <a:ext cx="51935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5F5F5"/>
                </a:solidFill>
              </a:rPr>
              <a:t>Полный исходный код платформы в Git-репозитории. Передача исключительных прав на все разработанное ПО Заказчику.</a:t>
            </a:r>
            <a:endParaRPr lang="en-US" sz="834" dirty="0"/>
          </a:p>
        </p:txBody>
      </p:sp>
      <p:sp>
        <p:nvSpPr>
          <p:cNvPr id="6" name="Text 3"/>
          <p:cNvSpPr/>
          <p:nvPr/>
        </p:nvSpPr>
        <p:spPr>
          <a:xfrm>
            <a:off x="778669" y="2204265"/>
            <a:ext cx="519350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DD00"/>
                </a:solidFill>
              </a:rPr>
              <a:t>Документация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778669" y="2456083"/>
            <a:ext cx="51935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5F5F5"/>
                </a:solidFill>
              </a:rPr>
              <a:t>Детальное описание архитектуры системы, документация по API (OpenAPI 3.0) и инструкции по развертыванию в Docker/Kubernetes.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778669" y="3084733"/>
            <a:ext cx="519350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DD00"/>
                </a:solidFill>
              </a:rPr>
              <a:t>Эксплуатация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778669" y="3336550"/>
            <a:ext cx="51935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5F5F5"/>
                </a:solidFill>
              </a:rPr>
              <a:t>Инструкции для администраторов и контент-менеджеров. Проведение обучающей сессии для команды Заказчика (до 8 часов).</a:t>
            </a:r>
            <a:endParaRPr lang="en-US" sz="834" dirty="0"/>
          </a:p>
        </p:txBody>
      </p:sp>
      <p:sp>
        <p:nvSpPr>
          <p:cNvPr id="10" name="Shape 7"/>
          <p:cNvSpPr/>
          <p:nvPr/>
        </p:nvSpPr>
        <p:spPr>
          <a:xfrm>
            <a:off x="6445986" y="-17469"/>
            <a:ext cx="2743200" cy="5143500"/>
          </a:xfrm>
          <a:prstGeom prst="rect">
            <a:avLst/>
          </a:prstGeom>
          <a:solidFill>
            <a:srgbClr val="FFDD00"/>
          </a:solidFill>
          <a:ln/>
        </p:spPr>
      </p:sp>
      <p:sp>
        <p:nvSpPr>
          <p:cNvPr id="11" name="Text 8"/>
          <p:cNvSpPr/>
          <p:nvPr/>
        </p:nvSpPr>
        <p:spPr>
          <a:xfrm>
            <a:off x="6731736" y="696906"/>
            <a:ext cx="2171700" cy="1922980"/>
          </a:xfrm>
          <a:prstGeom prst="rect">
            <a:avLst/>
          </a:prstGeom>
          <a:noFill/>
          <a:ln/>
        </p:spPr>
        <p:txBody>
          <a:bodyPr wrap="square" lIns="0" tIns="255143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050505"/>
                </a:solidFill>
              </a:rPr>
              <a:t>Мы гарантируем качество разработки и полную прозрачность процесса передачи интеллектуальной собственности.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6731736" y="4704550"/>
            <a:ext cx="3075524" cy="421481"/>
          </a:xfrm>
          <a:prstGeom prst="rect">
            <a:avLst/>
          </a:prstGeom>
          <a:noFill/>
          <a:ln/>
        </p:spPr>
        <p:txBody>
          <a:bodyPr wrap="square" lIns="0" tIns="340233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50505"/>
                </a:solidFill>
              </a:rPr>
              <a:t>Rakhmanov-studio.ru 2026</a:t>
            </a:r>
            <a:endParaRPr lang="en-US" sz="68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2026-02-16T12:19:47Z</dcterms:created>
  <dcterms:modified xsi:type="dcterms:W3CDTF">2026-02-16T12:19:47Z</dcterms:modified>
</cp:coreProperties>
</file>